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1430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45464A"/>
                </a:solidFill>
                <a:latin typeface="Arial"/>
              </a:rPr>
              <a:t>Multimodal Transformer with same-time cross-modal fusion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7880" y="868680"/>
            <a:ext cx="3017520" cy="3474720"/>
          </a:xfrm>
          <a:prstGeom prst="roundRect">
            <a:avLst>
              <a:gd name="adj" fmla="val 3030"/>
            </a:avLst>
          </a:prstGeom>
          <a:solidFill>
            <a:srgbClr val="E8EDE5"/>
          </a:solidFill>
          <a:ln w="15875">
            <a:solidFill>
              <a:srgbClr val="8FA2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97880" y="914400"/>
            <a:ext cx="3017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45464A"/>
                </a:solidFill>
                <a:latin typeface="Arial"/>
              </a:rPr>
              <a:t>Same-time cross-modal fusion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97880" y="3886200"/>
            <a:ext cx="30175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Multi-head attention (4 heads) inside each frame</a:t>
            </a:r>
          </a:p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Add &amp; LayerNorm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1243584"/>
            <a:ext cx="53035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7C7D80"/>
                </a:solidFill>
                <a:latin typeface="Arial"/>
              </a:rPr>
              <a:t>t =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463040"/>
            <a:ext cx="402336" cy="2377440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8FA2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345936" y="1920240"/>
            <a:ext cx="0" cy="1463039"/>
          </a:xfrm>
          <a:prstGeom prst="line">
            <a:avLst/>
          </a:prstGeom>
          <a:ln w="15875">
            <a:solidFill>
              <a:srgbClr val="8FA28A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208776" y="1600200"/>
            <a:ext cx="274320" cy="274320"/>
          </a:xfrm>
          <a:prstGeom prst="ellipse">
            <a:avLst/>
          </a:prstGeom>
          <a:solidFill>
            <a:srgbClr val="B4C3CE"/>
          </a:solidFill>
          <a:ln w="12700">
            <a:solidFill>
              <a:srgbClr val="7F9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08776" y="3429000"/>
            <a:ext cx="274320" cy="274320"/>
          </a:xfrm>
          <a:prstGeom prst="ellipse">
            <a:avLst/>
          </a:prstGeom>
          <a:solidFill>
            <a:srgbClr val="DCC1BD"/>
          </a:solidFill>
          <a:ln w="12700">
            <a:solidFill>
              <a:srgbClr val="B08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11112" y="1243584"/>
            <a:ext cx="53035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7C7D80"/>
                </a:solidFill>
                <a:latin typeface="Arial"/>
              </a:rPr>
              <a:t>t =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463040"/>
            <a:ext cx="402336" cy="2377440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8FA2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6876288" y="1920240"/>
            <a:ext cx="0" cy="1463039"/>
          </a:xfrm>
          <a:prstGeom prst="line">
            <a:avLst/>
          </a:prstGeom>
          <a:ln w="15875">
            <a:solidFill>
              <a:srgbClr val="8FA28A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6739128" y="1600200"/>
            <a:ext cx="274320" cy="274320"/>
          </a:xfrm>
          <a:prstGeom prst="ellipse">
            <a:avLst/>
          </a:prstGeom>
          <a:solidFill>
            <a:srgbClr val="B4C3CE"/>
          </a:solidFill>
          <a:ln w="12700">
            <a:solidFill>
              <a:srgbClr val="7F9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739128" y="3429000"/>
            <a:ext cx="274320" cy="274320"/>
          </a:xfrm>
          <a:prstGeom prst="ellipse">
            <a:avLst/>
          </a:prstGeom>
          <a:solidFill>
            <a:srgbClr val="DCC1BD"/>
          </a:solidFill>
          <a:ln w="12700">
            <a:solidFill>
              <a:srgbClr val="B08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1464" y="1243584"/>
            <a:ext cx="53035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7C7D80"/>
                </a:solidFill>
                <a:latin typeface="Arial"/>
              </a:rPr>
              <a:t>t =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05472" y="1463040"/>
            <a:ext cx="402336" cy="2377440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8FA2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7406640" y="1920240"/>
            <a:ext cx="0" cy="1463039"/>
          </a:xfrm>
          <a:prstGeom prst="line">
            <a:avLst/>
          </a:prstGeom>
          <a:ln w="15875">
            <a:solidFill>
              <a:srgbClr val="8FA28A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69479" y="1600200"/>
            <a:ext cx="274320" cy="274320"/>
          </a:xfrm>
          <a:prstGeom prst="ellipse">
            <a:avLst/>
          </a:prstGeom>
          <a:solidFill>
            <a:srgbClr val="B4C3CE"/>
          </a:solidFill>
          <a:ln w="12700">
            <a:solidFill>
              <a:srgbClr val="7F9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69479" y="3429000"/>
            <a:ext cx="274320" cy="274320"/>
          </a:xfrm>
          <a:prstGeom prst="ellipse">
            <a:avLst/>
          </a:prstGeom>
          <a:solidFill>
            <a:srgbClr val="DCC1BD"/>
          </a:solidFill>
          <a:ln w="12700">
            <a:solidFill>
              <a:srgbClr val="B08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99832" y="1709928"/>
            <a:ext cx="54864" cy="54864"/>
          </a:xfrm>
          <a:prstGeom prst="ellipse">
            <a:avLst/>
          </a:prstGeom>
          <a:solidFill>
            <a:srgbClr val="7C7D80"/>
          </a:solidFill>
          <a:ln w="12700">
            <a:solidFill>
              <a:srgbClr val="7C7D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09560" y="1709928"/>
            <a:ext cx="54864" cy="54864"/>
          </a:xfrm>
          <a:prstGeom prst="ellipse">
            <a:avLst/>
          </a:prstGeom>
          <a:solidFill>
            <a:srgbClr val="7C7D80"/>
          </a:solidFill>
          <a:ln w="12700">
            <a:solidFill>
              <a:srgbClr val="7C7D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019288" y="1709928"/>
            <a:ext cx="54864" cy="54864"/>
          </a:xfrm>
          <a:prstGeom prst="ellipse">
            <a:avLst/>
          </a:prstGeom>
          <a:solidFill>
            <a:srgbClr val="7C7D80"/>
          </a:solidFill>
          <a:ln w="12700">
            <a:solidFill>
              <a:srgbClr val="7C7D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99832" y="3538728"/>
            <a:ext cx="54864" cy="54864"/>
          </a:xfrm>
          <a:prstGeom prst="ellipse">
            <a:avLst/>
          </a:prstGeom>
          <a:solidFill>
            <a:srgbClr val="7C7D80"/>
          </a:solidFill>
          <a:ln w="12700">
            <a:solidFill>
              <a:srgbClr val="7C7D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09560" y="3538728"/>
            <a:ext cx="54864" cy="54864"/>
          </a:xfrm>
          <a:prstGeom prst="ellipse">
            <a:avLst/>
          </a:prstGeom>
          <a:solidFill>
            <a:srgbClr val="7C7D80"/>
          </a:solidFill>
          <a:ln w="12700">
            <a:solidFill>
              <a:srgbClr val="7C7D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19288" y="3538728"/>
            <a:ext cx="54864" cy="54864"/>
          </a:xfrm>
          <a:prstGeom prst="ellipse">
            <a:avLst/>
          </a:prstGeom>
          <a:solidFill>
            <a:srgbClr val="7C7D80"/>
          </a:solidFill>
          <a:ln w="12700">
            <a:solidFill>
              <a:srgbClr val="7C7D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02168" y="1243584"/>
            <a:ext cx="53035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7C7D80"/>
                </a:solidFill>
                <a:latin typeface="Arial"/>
              </a:rPr>
              <a:t>t = 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6175" y="1463040"/>
            <a:ext cx="402336" cy="2377440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8FA2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8467344" y="1920240"/>
            <a:ext cx="0" cy="1463039"/>
          </a:xfrm>
          <a:prstGeom prst="line">
            <a:avLst/>
          </a:prstGeom>
          <a:ln w="15875">
            <a:solidFill>
              <a:srgbClr val="8FA28A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8330183" y="1600200"/>
            <a:ext cx="274320" cy="274320"/>
          </a:xfrm>
          <a:prstGeom prst="ellipse">
            <a:avLst/>
          </a:prstGeom>
          <a:solidFill>
            <a:srgbClr val="B4C3CE"/>
          </a:solidFill>
          <a:ln w="12700">
            <a:solidFill>
              <a:srgbClr val="7F9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330183" y="3429000"/>
            <a:ext cx="274320" cy="274320"/>
          </a:xfrm>
          <a:prstGeom prst="ellipse">
            <a:avLst/>
          </a:prstGeom>
          <a:solidFill>
            <a:srgbClr val="DCC1BD"/>
          </a:solidFill>
          <a:ln w="12700">
            <a:solidFill>
              <a:srgbClr val="B08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1133855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45464A"/>
                </a:solidFill>
                <a:latin typeface="Arial"/>
              </a:rPr>
              <a:t>Modality 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" y="1463039"/>
            <a:ext cx="182880" cy="548640"/>
          </a:xfrm>
          <a:prstGeom prst="rect">
            <a:avLst/>
          </a:prstGeom>
          <a:solidFill>
            <a:srgbClr val="B4C3CE"/>
          </a:solidFill>
          <a:ln w="9525">
            <a:solidFill>
              <a:srgbClr val="7F9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85216" y="1463039"/>
            <a:ext cx="182880" cy="548640"/>
          </a:xfrm>
          <a:prstGeom prst="rect">
            <a:avLst/>
          </a:prstGeom>
          <a:solidFill>
            <a:srgbClr val="B4C3CE"/>
          </a:solidFill>
          <a:ln w="9525">
            <a:solidFill>
              <a:srgbClr val="7F9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5528" y="1463039"/>
            <a:ext cx="182880" cy="548640"/>
          </a:xfrm>
          <a:prstGeom prst="rect">
            <a:avLst/>
          </a:prstGeom>
          <a:solidFill>
            <a:srgbClr val="B4C3CE"/>
          </a:solidFill>
          <a:ln w="9525">
            <a:solidFill>
              <a:srgbClr val="7F9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840" y="1463039"/>
            <a:ext cx="182880" cy="548640"/>
          </a:xfrm>
          <a:prstGeom prst="rect">
            <a:avLst/>
          </a:prstGeom>
          <a:solidFill>
            <a:srgbClr val="B4C3CE"/>
          </a:solidFill>
          <a:ln w="9525">
            <a:solidFill>
              <a:srgbClr val="7F9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216152" y="1463039"/>
            <a:ext cx="182880" cy="548640"/>
          </a:xfrm>
          <a:prstGeom prst="rect">
            <a:avLst/>
          </a:prstGeom>
          <a:solidFill>
            <a:srgbClr val="B4C3CE"/>
          </a:solidFill>
          <a:ln w="9525">
            <a:solidFill>
              <a:srgbClr val="7F9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26464" y="1463039"/>
            <a:ext cx="182880" cy="548640"/>
          </a:xfrm>
          <a:prstGeom prst="rect">
            <a:avLst/>
          </a:prstGeom>
          <a:solidFill>
            <a:srgbClr val="B4C3CE"/>
          </a:solidFill>
          <a:ln w="9525">
            <a:solidFill>
              <a:srgbClr val="7F9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36776" y="1463039"/>
            <a:ext cx="182880" cy="548640"/>
          </a:xfrm>
          <a:prstGeom prst="rect">
            <a:avLst/>
          </a:prstGeom>
          <a:solidFill>
            <a:srgbClr val="B4C3CE"/>
          </a:solidFill>
          <a:ln w="9525">
            <a:solidFill>
              <a:srgbClr val="7F9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82880" y="2066543"/>
            <a:ext cx="18288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7C7D80"/>
                </a:solidFill>
                <a:latin typeface="Arial"/>
              </a:rPr>
              <a:t>T = 50 frames  [B, T, D</a:t>
            </a:r>
            <a:r>
              <a:rPr sz="1000" b="0" baseline="-25000">
                <a:solidFill>
                  <a:srgbClr val="7C7D80"/>
                </a:solidFill>
                <a:latin typeface="Arial"/>
              </a:rPr>
              <a:t>1</a:t>
            </a:r>
            <a:r>
              <a:rPr sz="1000" b="0">
                <a:solidFill>
                  <a:srgbClr val="7C7D80"/>
                </a:solidFill>
                <a:latin typeface="Arial"/>
              </a:rPr>
              <a:t>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94560" y="1005839"/>
            <a:ext cx="3291840" cy="1188720"/>
          </a:xfrm>
          <a:prstGeom prst="roundRect">
            <a:avLst>
              <a:gd name="adj" fmla="val 7692"/>
            </a:avLst>
          </a:prstGeom>
          <a:solidFill>
            <a:srgbClr val="E6ECF0"/>
          </a:solidFill>
          <a:ln w="15875">
            <a:solidFill>
              <a:srgbClr val="7F9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94560" y="1042415"/>
            <a:ext cx="3291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45464A"/>
                </a:solidFill>
                <a:latin typeface="Arial"/>
              </a:rPr>
              <a:t>Temporal encoder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31720" y="1417319"/>
            <a:ext cx="822960" cy="640080"/>
          </a:xfrm>
          <a:prstGeom prst="roundRect">
            <a:avLst>
              <a:gd name="adj" fmla="val 8571"/>
            </a:avLst>
          </a:prstGeom>
          <a:solidFill>
            <a:srgbClr val="B4C3CE"/>
          </a:solidFill>
          <a:ln w="12700">
            <a:solidFill>
              <a:srgbClr val="7F9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Linear</a:t>
            </a:r>
          </a:p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D</a:t>
            </a:r>
            <a:r>
              <a:rPr sz="1000" b="0" baseline="-25000">
                <a:solidFill>
                  <a:srgbClr val="45464A"/>
                </a:solidFill>
                <a:latin typeface="Arial"/>
              </a:rPr>
              <a:t>1</a:t>
            </a:r>
            <a:r>
              <a:rPr sz="1000" b="0">
                <a:solidFill>
                  <a:srgbClr val="45464A"/>
                </a:solidFill>
                <a:latin typeface="Arial"/>
              </a:rPr>
              <a:t> → 16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1839" y="1417319"/>
            <a:ext cx="731520" cy="640080"/>
          </a:xfrm>
          <a:prstGeom prst="roundRect">
            <a:avLst>
              <a:gd name="adj" fmla="val 8571"/>
            </a:avLst>
          </a:prstGeom>
          <a:solidFill>
            <a:srgbClr val="B4C3CE"/>
          </a:solidFill>
          <a:ln w="12700">
            <a:solidFill>
              <a:srgbClr val="7F9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Positional</a:t>
            </a:r>
          </a:p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encoding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60520" y="1417319"/>
            <a:ext cx="1188720" cy="640080"/>
          </a:xfrm>
          <a:prstGeom prst="roundRect">
            <a:avLst>
              <a:gd name="adj" fmla="val 8571"/>
            </a:avLst>
          </a:prstGeom>
          <a:solidFill>
            <a:srgbClr val="B4C3CE"/>
          </a:solidFill>
          <a:ln w="12700">
            <a:solidFill>
              <a:srgbClr val="7F9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Transformer</a:t>
            </a:r>
          </a:p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encoder × 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847088" y="1737360"/>
            <a:ext cx="484632" cy="0"/>
          </a:xfrm>
          <a:prstGeom prst="line">
            <a:avLst/>
          </a:prstGeom>
          <a:ln w="15875">
            <a:solidFill>
              <a:srgbClr val="7778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154679" y="1737360"/>
            <a:ext cx="137160" cy="0"/>
          </a:xfrm>
          <a:prstGeom prst="line">
            <a:avLst/>
          </a:prstGeom>
          <a:ln w="15875">
            <a:solidFill>
              <a:srgbClr val="7778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023359" y="1737360"/>
            <a:ext cx="137161" cy="0"/>
          </a:xfrm>
          <a:prstGeom prst="line">
            <a:avLst/>
          </a:prstGeom>
          <a:ln w="15875">
            <a:solidFill>
              <a:srgbClr val="7778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5349240" y="1737360"/>
            <a:ext cx="548640" cy="0"/>
          </a:xfrm>
          <a:prstGeom prst="line">
            <a:avLst/>
          </a:prstGeom>
          <a:ln w="15875">
            <a:solidFill>
              <a:srgbClr val="7778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915400" y="1737360"/>
            <a:ext cx="320040" cy="0"/>
          </a:xfrm>
          <a:prstGeom prst="line">
            <a:avLst/>
          </a:prstGeom>
          <a:ln w="15875">
            <a:solidFill>
              <a:srgbClr val="7778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65760" y="2962656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45464A"/>
                </a:solidFill>
                <a:latin typeface="Arial"/>
              </a:rPr>
              <a:t>Modality 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4904" y="3291840"/>
            <a:ext cx="182880" cy="548640"/>
          </a:xfrm>
          <a:prstGeom prst="rect">
            <a:avLst/>
          </a:prstGeom>
          <a:solidFill>
            <a:srgbClr val="DCC1BD"/>
          </a:solidFill>
          <a:ln w="9525">
            <a:solidFill>
              <a:srgbClr val="B08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85216" y="3291840"/>
            <a:ext cx="182880" cy="548640"/>
          </a:xfrm>
          <a:prstGeom prst="rect">
            <a:avLst/>
          </a:prstGeom>
          <a:solidFill>
            <a:srgbClr val="DCC1BD"/>
          </a:solidFill>
          <a:ln w="9525">
            <a:solidFill>
              <a:srgbClr val="B08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5528" y="3291840"/>
            <a:ext cx="182880" cy="548640"/>
          </a:xfrm>
          <a:prstGeom prst="rect">
            <a:avLst/>
          </a:prstGeom>
          <a:solidFill>
            <a:srgbClr val="DCC1BD"/>
          </a:solidFill>
          <a:ln w="9525">
            <a:solidFill>
              <a:srgbClr val="B08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05840" y="3291840"/>
            <a:ext cx="182880" cy="548640"/>
          </a:xfrm>
          <a:prstGeom prst="rect">
            <a:avLst/>
          </a:prstGeom>
          <a:solidFill>
            <a:srgbClr val="DCC1BD"/>
          </a:solidFill>
          <a:ln w="9525">
            <a:solidFill>
              <a:srgbClr val="B08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216152" y="3291840"/>
            <a:ext cx="182880" cy="548640"/>
          </a:xfrm>
          <a:prstGeom prst="rect">
            <a:avLst/>
          </a:prstGeom>
          <a:solidFill>
            <a:srgbClr val="DCC1BD"/>
          </a:solidFill>
          <a:ln w="9525">
            <a:solidFill>
              <a:srgbClr val="B08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426464" y="3291840"/>
            <a:ext cx="182880" cy="548640"/>
          </a:xfrm>
          <a:prstGeom prst="rect">
            <a:avLst/>
          </a:prstGeom>
          <a:solidFill>
            <a:srgbClr val="DCC1BD"/>
          </a:solidFill>
          <a:ln w="9525">
            <a:solidFill>
              <a:srgbClr val="B08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636776" y="3291840"/>
            <a:ext cx="182880" cy="548640"/>
          </a:xfrm>
          <a:prstGeom prst="rect">
            <a:avLst/>
          </a:prstGeom>
          <a:solidFill>
            <a:srgbClr val="DCC1BD"/>
          </a:solidFill>
          <a:ln w="9525">
            <a:solidFill>
              <a:srgbClr val="B08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2880" y="3895344"/>
            <a:ext cx="18288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7C7D80"/>
                </a:solidFill>
                <a:latin typeface="Arial"/>
              </a:rPr>
              <a:t>T = 50 frames  [B, T, D</a:t>
            </a:r>
            <a:r>
              <a:rPr sz="1000" b="0" baseline="-25000">
                <a:solidFill>
                  <a:srgbClr val="7C7D80"/>
                </a:solidFill>
                <a:latin typeface="Arial"/>
              </a:rPr>
              <a:t>M</a:t>
            </a:r>
            <a:r>
              <a:rPr sz="1000" b="0">
                <a:solidFill>
                  <a:srgbClr val="7C7D80"/>
                </a:solidFill>
                <a:latin typeface="Arial"/>
              </a:rPr>
              <a:t>]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194560" y="2834639"/>
            <a:ext cx="3291840" cy="1188720"/>
          </a:xfrm>
          <a:prstGeom prst="roundRect">
            <a:avLst>
              <a:gd name="adj" fmla="val 7692"/>
            </a:avLst>
          </a:prstGeom>
          <a:solidFill>
            <a:srgbClr val="F4E9E7"/>
          </a:solidFill>
          <a:ln w="15875">
            <a:solidFill>
              <a:srgbClr val="B08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94560" y="2871215"/>
            <a:ext cx="3291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45464A"/>
                </a:solidFill>
                <a:latin typeface="Arial"/>
              </a:rPr>
              <a:t>Temporal encoder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331720" y="3246120"/>
            <a:ext cx="822960" cy="640080"/>
          </a:xfrm>
          <a:prstGeom prst="roundRect">
            <a:avLst>
              <a:gd name="adj" fmla="val 8571"/>
            </a:avLst>
          </a:prstGeom>
          <a:solidFill>
            <a:srgbClr val="DCC1BD"/>
          </a:solidFill>
          <a:ln w="12700">
            <a:solidFill>
              <a:srgbClr val="B08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Linear</a:t>
            </a:r>
          </a:p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D</a:t>
            </a:r>
            <a:r>
              <a:rPr sz="1000" b="0" baseline="-25000">
                <a:solidFill>
                  <a:srgbClr val="45464A"/>
                </a:solidFill>
                <a:latin typeface="Arial"/>
              </a:rPr>
              <a:t>M</a:t>
            </a:r>
            <a:r>
              <a:rPr sz="1000" b="0">
                <a:solidFill>
                  <a:srgbClr val="45464A"/>
                </a:solidFill>
                <a:latin typeface="Arial"/>
              </a:rPr>
              <a:t> → 16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291839" y="3246120"/>
            <a:ext cx="731520" cy="640080"/>
          </a:xfrm>
          <a:prstGeom prst="roundRect">
            <a:avLst>
              <a:gd name="adj" fmla="val 8571"/>
            </a:avLst>
          </a:prstGeom>
          <a:solidFill>
            <a:srgbClr val="DCC1BD"/>
          </a:solidFill>
          <a:ln w="12700">
            <a:solidFill>
              <a:srgbClr val="B08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Positional</a:t>
            </a:r>
          </a:p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encoding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60520" y="3246120"/>
            <a:ext cx="1188720" cy="640080"/>
          </a:xfrm>
          <a:prstGeom prst="roundRect">
            <a:avLst>
              <a:gd name="adj" fmla="val 8571"/>
            </a:avLst>
          </a:prstGeom>
          <a:solidFill>
            <a:srgbClr val="DCC1BD"/>
          </a:solidFill>
          <a:ln w="12700">
            <a:solidFill>
              <a:srgbClr val="B08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Transformer</a:t>
            </a:r>
          </a:p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encoder × 3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847088" y="3566160"/>
            <a:ext cx="484632" cy="0"/>
          </a:xfrm>
          <a:prstGeom prst="line">
            <a:avLst/>
          </a:prstGeom>
          <a:ln w="15875">
            <a:solidFill>
              <a:srgbClr val="7778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154679" y="3566160"/>
            <a:ext cx="137160" cy="0"/>
          </a:xfrm>
          <a:prstGeom prst="line">
            <a:avLst/>
          </a:prstGeom>
          <a:ln w="15875">
            <a:solidFill>
              <a:srgbClr val="7778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023359" y="3566160"/>
            <a:ext cx="137161" cy="0"/>
          </a:xfrm>
          <a:prstGeom prst="line">
            <a:avLst/>
          </a:prstGeom>
          <a:ln w="15875">
            <a:solidFill>
              <a:srgbClr val="7778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349240" y="3566160"/>
            <a:ext cx="548640" cy="0"/>
          </a:xfrm>
          <a:prstGeom prst="line">
            <a:avLst/>
          </a:prstGeom>
          <a:ln w="15875">
            <a:solidFill>
              <a:srgbClr val="7778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8915400" y="3566160"/>
            <a:ext cx="320040" cy="0"/>
          </a:xfrm>
          <a:prstGeom prst="line">
            <a:avLst/>
          </a:prstGeom>
          <a:ln w="15875">
            <a:solidFill>
              <a:srgbClr val="7778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1069848" y="2514600"/>
            <a:ext cx="54864" cy="54864"/>
          </a:xfrm>
          <a:prstGeom prst="ellipse">
            <a:avLst/>
          </a:prstGeom>
          <a:solidFill>
            <a:srgbClr val="7C7D80"/>
          </a:solidFill>
          <a:ln w="12700">
            <a:solidFill>
              <a:srgbClr val="7C7D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69848" y="2624328"/>
            <a:ext cx="54864" cy="54864"/>
          </a:xfrm>
          <a:prstGeom prst="ellipse">
            <a:avLst/>
          </a:prstGeom>
          <a:solidFill>
            <a:srgbClr val="7C7D80"/>
          </a:solidFill>
          <a:ln w="12700">
            <a:solidFill>
              <a:srgbClr val="7C7D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069848" y="2734056"/>
            <a:ext cx="54864" cy="54864"/>
          </a:xfrm>
          <a:prstGeom prst="ellipse">
            <a:avLst/>
          </a:prstGeom>
          <a:solidFill>
            <a:srgbClr val="7C7D80"/>
          </a:solidFill>
          <a:ln w="12700">
            <a:solidFill>
              <a:srgbClr val="7C7D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813048" y="2514600"/>
            <a:ext cx="54864" cy="54864"/>
          </a:xfrm>
          <a:prstGeom prst="ellipse">
            <a:avLst/>
          </a:prstGeom>
          <a:solidFill>
            <a:srgbClr val="7C7D80"/>
          </a:solidFill>
          <a:ln w="12700">
            <a:solidFill>
              <a:srgbClr val="7C7D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813048" y="2624328"/>
            <a:ext cx="54864" cy="54864"/>
          </a:xfrm>
          <a:prstGeom prst="ellipse">
            <a:avLst/>
          </a:prstGeom>
          <a:solidFill>
            <a:srgbClr val="7C7D80"/>
          </a:solidFill>
          <a:ln w="12700">
            <a:solidFill>
              <a:srgbClr val="7C7D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813048" y="2734056"/>
            <a:ext cx="54864" cy="54864"/>
          </a:xfrm>
          <a:prstGeom prst="ellipse">
            <a:avLst/>
          </a:prstGeom>
          <a:solidFill>
            <a:srgbClr val="7C7D80"/>
          </a:solidFill>
          <a:ln w="12700">
            <a:solidFill>
              <a:srgbClr val="7C7D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9235440" y="1371600"/>
            <a:ext cx="411480" cy="2560320"/>
          </a:xfrm>
          <a:prstGeom prst="roundRect">
            <a:avLst>
              <a:gd name="adj" fmla="val 13333"/>
            </a:avLst>
          </a:prstGeom>
          <a:solidFill>
            <a:srgbClr val="C3CFBE"/>
          </a:solidFill>
          <a:ln w="12700">
            <a:solidFill>
              <a:srgbClr val="8FA2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 vert="vert270"/>
          <a:lstStyle/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Mask  ·  Concat  ·  Flatten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9646920" y="2651760"/>
            <a:ext cx="320040" cy="0"/>
          </a:xfrm>
          <a:prstGeom prst="line">
            <a:avLst/>
          </a:prstGeom>
          <a:ln w="15875">
            <a:solidFill>
              <a:srgbClr val="7778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9966960" y="2103120"/>
            <a:ext cx="1828800" cy="1097280"/>
          </a:xfrm>
          <a:prstGeom prst="roundRect">
            <a:avLst>
              <a:gd name="adj" fmla="val 5000"/>
            </a:avLst>
          </a:prstGeom>
          <a:solidFill>
            <a:srgbClr val="CFC5D3"/>
          </a:solidFill>
          <a:ln w="12700">
            <a:solidFill>
              <a:srgbClr val="9A8B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1">
                <a:solidFill>
                  <a:srgbClr val="45464A"/>
                </a:solidFill>
                <a:latin typeface="Arial"/>
              </a:rPr>
              <a:t>Classifier head</a:t>
            </a:r>
          </a:p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Linear → GELU →</a:t>
            </a:r>
          </a:p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Dropout → Linear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0881360" y="3200400"/>
            <a:ext cx="0" cy="411480"/>
          </a:xfrm>
          <a:prstGeom prst="line">
            <a:avLst/>
          </a:prstGeom>
          <a:ln w="15875">
            <a:solidFill>
              <a:srgbClr val="7778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9966960" y="3611880"/>
            <a:ext cx="18288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A8B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Fused logits  ·  5 classes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0881360" y="4069080"/>
            <a:ext cx="0" cy="777240"/>
          </a:xfrm>
          <a:prstGeom prst="line">
            <a:avLst/>
          </a:prstGeom>
          <a:ln w="15875">
            <a:solidFill>
              <a:srgbClr val="7778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5897880" y="4800600"/>
            <a:ext cx="3017520" cy="1371600"/>
          </a:xfrm>
          <a:prstGeom prst="roundRect">
            <a:avLst>
              <a:gd name="adj" fmla="val 6666"/>
            </a:avLst>
          </a:prstGeom>
          <a:solidFill>
            <a:srgbClr val="F6F1E5"/>
          </a:solidFill>
          <a:ln w="15875">
            <a:solidFill>
              <a:srgbClr val="B5A2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6675120" y="4343400"/>
            <a:ext cx="0" cy="640080"/>
          </a:xfrm>
          <a:prstGeom prst="line">
            <a:avLst/>
          </a:prstGeom>
          <a:ln w="15875">
            <a:solidFill>
              <a:srgbClr val="7778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6784848" y="4453128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7C7D80"/>
                </a:solidFill>
                <a:latin typeface="Arial"/>
              </a:rPr>
              <a:t>fused tokens  [B, T, 16] per modality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035040" y="4983480"/>
            <a:ext cx="1280160" cy="685800"/>
          </a:xfrm>
          <a:prstGeom prst="roundRect">
            <a:avLst>
              <a:gd name="adj" fmla="val 8000"/>
            </a:avLst>
          </a:prstGeom>
          <a:solidFill>
            <a:srgbClr val="E3D7BE"/>
          </a:solidFill>
          <a:ln w="12700">
            <a:solidFill>
              <a:srgbClr val="B5A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Masked mean</a:t>
            </a:r>
          </a:p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pool over T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498079" y="4983480"/>
            <a:ext cx="1280160" cy="685800"/>
          </a:xfrm>
          <a:prstGeom prst="roundRect">
            <a:avLst>
              <a:gd name="adj" fmla="val 8000"/>
            </a:avLst>
          </a:prstGeom>
          <a:solidFill>
            <a:srgbClr val="E3D7BE"/>
          </a:solidFill>
          <a:ln w="12700">
            <a:solidFill>
              <a:srgbClr val="B5A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Auxiliary head</a:t>
            </a:r>
          </a:p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(MLP) × M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7315200" y="5326380"/>
            <a:ext cx="182879" cy="0"/>
          </a:xfrm>
          <a:prstGeom prst="line">
            <a:avLst/>
          </a:prstGeom>
          <a:ln w="15875">
            <a:solidFill>
              <a:srgbClr val="7778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5897880" y="5788152"/>
            <a:ext cx="3017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45464A"/>
                </a:solidFill>
                <a:latin typeface="Arial"/>
              </a:rPr>
              <a:t>Auxiliary supervision (training only)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8778240" y="5326380"/>
            <a:ext cx="1188720" cy="0"/>
          </a:xfrm>
          <a:prstGeom prst="line">
            <a:avLst/>
          </a:prstGeom>
          <a:ln w="15875">
            <a:solidFill>
              <a:srgbClr val="7778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8961120" y="5047488"/>
            <a:ext cx="9601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7C7D80"/>
                </a:solidFill>
                <a:latin typeface="Arial"/>
              </a:rPr>
              <a:t>aux logits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966960" y="484632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C9C1B9"/>
          </a:solidFill>
          <a:ln w="12700">
            <a:solidFill>
              <a:srgbClr val="8A81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1">
                <a:solidFill>
                  <a:srgbClr val="45464A"/>
                </a:solidFill>
                <a:latin typeface="Arial"/>
              </a:rPr>
              <a:t>Training loss</a:t>
            </a:r>
          </a:p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CE(fused) +</a:t>
            </a:r>
          </a:p>
          <a:p>
            <a:pPr algn="ctr"/>
            <a:r>
              <a:rPr sz="1000" b="0">
                <a:solidFill>
                  <a:srgbClr val="45464A"/>
                </a:solidFill>
                <a:latin typeface="Arial"/>
              </a:rPr>
              <a:t>λ · mean CE(aux),  λ = 0.1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57200" y="498348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B4C3CE"/>
          </a:solidFill>
          <a:ln w="12700">
            <a:solidFill>
              <a:srgbClr val="7F9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2960" y="4956048"/>
            <a:ext cx="1920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45464A"/>
                </a:solidFill>
                <a:latin typeface="Arial"/>
              </a:rPr>
              <a:t>Modality 1 stream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834640" y="498348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DCC1BD"/>
          </a:solidFill>
          <a:ln w="12700">
            <a:solidFill>
              <a:srgbClr val="B08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200400" y="4956048"/>
            <a:ext cx="1920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45464A"/>
                </a:solidFill>
                <a:latin typeface="Arial"/>
              </a:rPr>
              <a:t>Modality M stream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57200" y="5312664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C3CFBE"/>
          </a:solidFill>
          <a:ln w="12700">
            <a:solidFill>
              <a:srgbClr val="8FA2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2960" y="5285232"/>
            <a:ext cx="1920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45464A"/>
                </a:solidFill>
                <a:latin typeface="Arial"/>
              </a:rPr>
              <a:t>Cross-modal fusion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834640" y="5312664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CFC5D3"/>
          </a:solidFill>
          <a:ln w="12700">
            <a:solidFill>
              <a:srgbClr val="9A8B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200400" y="5285232"/>
            <a:ext cx="1920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45464A"/>
                </a:solidFill>
                <a:latin typeface="Arial"/>
              </a:rPr>
              <a:t>Classifier head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57200" y="5641848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E3D7BE"/>
          </a:solidFill>
          <a:ln w="12700">
            <a:solidFill>
              <a:srgbClr val="B5A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22960" y="5614416"/>
            <a:ext cx="1920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45464A"/>
                </a:solidFill>
                <a:latin typeface="Arial"/>
              </a:rPr>
              <a:t>Auxiliary supervision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834640" y="5641848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C9C1B9"/>
          </a:solidFill>
          <a:ln w="12700">
            <a:solidFill>
              <a:srgbClr val="8A81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200400" y="5614416"/>
            <a:ext cx="1920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45464A"/>
                </a:solidFill>
                <a:latin typeface="Arial"/>
              </a:rPr>
              <a:t>Training loss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57200" y="5998464"/>
            <a:ext cx="5120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7C7D80"/>
                </a:solidFill>
                <a:latin typeface="Arial"/>
              </a:rPr>
              <a:t>d_model = 16  ·  4 heads  ·  3 layers  ·  T = 50 frames  ·  5 classes (A–E)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