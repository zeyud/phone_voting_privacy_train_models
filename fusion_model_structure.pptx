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781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897880" y="868680"/>
            <a:ext cx="3017520" cy="3474720"/>
          </a:xfrm>
          <a:prstGeom prst="roundRect">
            <a:avLst>
              <a:gd name="adj" fmla="val 3030"/>
            </a:avLst>
          </a:prstGeom>
          <a:solidFill>
            <a:srgbClr val="E8EDE5"/>
          </a:solidFill>
          <a:ln w="15875">
            <a:solidFill>
              <a:srgbClr val="8FA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5897880" y="928450"/>
            <a:ext cx="30175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45464A"/>
                </a:solidFill>
                <a:latin typeface="Arial"/>
              </a:rPr>
              <a:t>C</a:t>
            </a:r>
            <a:r>
              <a:rPr sz="1600" b="1" dirty="0">
                <a:solidFill>
                  <a:srgbClr val="45464A"/>
                </a:solidFill>
                <a:latin typeface="Arial"/>
              </a:rPr>
              <a:t>ross-modal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3876497"/>
            <a:ext cx="301752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dirty="0">
                <a:solidFill>
                  <a:srgbClr val="45464A"/>
                </a:solidFill>
                <a:latin typeface="Arial"/>
              </a:rPr>
              <a:t>Multi-head attention</a:t>
            </a:r>
          </a:p>
          <a:p>
            <a:pPr algn="ctr"/>
            <a:r>
              <a:rPr sz="1400" b="0" dirty="0">
                <a:solidFill>
                  <a:srgbClr val="45464A"/>
                </a:solidFill>
                <a:latin typeface="Arial"/>
              </a:rPr>
              <a:t>Add &amp; </a:t>
            </a:r>
            <a:r>
              <a:rPr sz="1400" b="0" dirty="0" err="1">
                <a:solidFill>
                  <a:srgbClr val="45464A"/>
                </a:solidFill>
                <a:latin typeface="Arial"/>
              </a:rPr>
              <a:t>LayerNorm</a:t>
            </a:r>
            <a:endParaRPr sz="1400" b="0" dirty="0">
              <a:solidFill>
                <a:srgbClr val="45464A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80760" y="1260979"/>
            <a:ext cx="53035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dirty="0">
                <a:solidFill>
                  <a:srgbClr val="7C7D80"/>
                </a:solidFill>
                <a:latin typeface="Arial"/>
              </a:rPr>
              <a:t>t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463040"/>
            <a:ext cx="402336" cy="237744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8FA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cxnSp>
        <p:nvCxnSpPr>
          <p:cNvPr id="8" name="Connector 7"/>
          <p:cNvCxnSpPr/>
          <p:nvPr/>
        </p:nvCxnSpPr>
        <p:spPr>
          <a:xfrm>
            <a:off x="6345936" y="1920240"/>
            <a:ext cx="0" cy="1463039"/>
          </a:xfrm>
          <a:prstGeom prst="line">
            <a:avLst/>
          </a:prstGeom>
          <a:ln w="15875">
            <a:solidFill>
              <a:srgbClr val="8FA28A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208776" y="1600200"/>
            <a:ext cx="274320" cy="274320"/>
          </a:xfrm>
          <a:prstGeom prst="ellipse">
            <a:avLst/>
          </a:prstGeom>
          <a:solidFill>
            <a:srgbClr val="B4C3CE"/>
          </a:solidFill>
          <a:ln w="12700">
            <a:solidFill>
              <a:srgbClr val="7F9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Oval 9"/>
          <p:cNvSpPr/>
          <p:nvPr/>
        </p:nvSpPr>
        <p:spPr>
          <a:xfrm>
            <a:off x="6208776" y="3429000"/>
            <a:ext cx="274320" cy="274320"/>
          </a:xfrm>
          <a:prstGeom prst="ellipse">
            <a:avLst/>
          </a:prstGeom>
          <a:solidFill>
            <a:srgbClr val="DCC1BD"/>
          </a:solidFill>
          <a:ln w="12700">
            <a:solidFill>
              <a:srgbClr val="B08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6611112" y="1260979"/>
            <a:ext cx="53035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dirty="0">
                <a:solidFill>
                  <a:srgbClr val="7C7D80"/>
                </a:solidFill>
                <a:latin typeface="Arial"/>
              </a:rPr>
              <a:t>t =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402336" cy="237744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8FA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cxnSp>
        <p:nvCxnSpPr>
          <p:cNvPr id="13" name="Connector 12"/>
          <p:cNvCxnSpPr/>
          <p:nvPr/>
        </p:nvCxnSpPr>
        <p:spPr>
          <a:xfrm>
            <a:off x="6876288" y="1920240"/>
            <a:ext cx="0" cy="1463039"/>
          </a:xfrm>
          <a:prstGeom prst="line">
            <a:avLst/>
          </a:prstGeom>
          <a:ln w="15875">
            <a:solidFill>
              <a:srgbClr val="8FA28A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739128" y="1600200"/>
            <a:ext cx="274320" cy="274320"/>
          </a:xfrm>
          <a:prstGeom prst="ellipse">
            <a:avLst/>
          </a:prstGeom>
          <a:solidFill>
            <a:srgbClr val="B4C3CE"/>
          </a:solidFill>
          <a:ln w="12700">
            <a:solidFill>
              <a:srgbClr val="7F9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Oval 14"/>
          <p:cNvSpPr/>
          <p:nvPr/>
        </p:nvSpPr>
        <p:spPr>
          <a:xfrm>
            <a:off x="6739128" y="3429000"/>
            <a:ext cx="274320" cy="274320"/>
          </a:xfrm>
          <a:prstGeom prst="ellipse">
            <a:avLst/>
          </a:prstGeom>
          <a:solidFill>
            <a:srgbClr val="DCC1BD"/>
          </a:solidFill>
          <a:ln w="12700">
            <a:solidFill>
              <a:srgbClr val="B08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7141464" y="1260979"/>
            <a:ext cx="53035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dirty="0">
                <a:solidFill>
                  <a:srgbClr val="7C7D80"/>
                </a:solidFill>
                <a:latin typeface="Arial"/>
              </a:rPr>
              <a:t>t =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5472" y="1463040"/>
            <a:ext cx="402336" cy="237744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8FA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cxnSp>
        <p:nvCxnSpPr>
          <p:cNvPr id="18" name="Connector 17"/>
          <p:cNvCxnSpPr/>
          <p:nvPr/>
        </p:nvCxnSpPr>
        <p:spPr>
          <a:xfrm>
            <a:off x="7406640" y="1920240"/>
            <a:ext cx="0" cy="1463039"/>
          </a:xfrm>
          <a:prstGeom prst="line">
            <a:avLst/>
          </a:prstGeom>
          <a:ln w="15875">
            <a:solidFill>
              <a:srgbClr val="8FA28A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269479" y="1600200"/>
            <a:ext cx="274320" cy="274320"/>
          </a:xfrm>
          <a:prstGeom prst="ellipse">
            <a:avLst/>
          </a:prstGeom>
          <a:solidFill>
            <a:srgbClr val="B4C3CE"/>
          </a:solidFill>
          <a:ln w="12700">
            <a:solidFill>
              <a:srgbClr val="7F9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Oval 19"/>
          <p:cNvSpPr/>
          <p:nvPr/>
        </p:nvSpPr>
        <p:spPr>
          <a:xfrm>
            <a:off x="7269479" y="3429000"/>
            <a:ext cx="274320" cy="274320"/>
          </a:xfrm>
          <a:prstGeom prst="ellipse">
            <a:avLst/>
          </a:prstGeom>
          <a:solidFill>
            <a:srgbClr val="DCC1BD"/>
          </a:solidFill>
          <a:ln w="12700">
            <a:solidFill>
              <a:srgbClr val="B08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Oval 20"/>
          <p:cNvSpPr/>
          <p:nvPr/>
        </p:nvSpPr>
        <p:spPr>
          <a:xfrm>
            <a:off x="7799832" y="1709928"/>
            <a:ext cx="54864" cy="54864"/>
          </a:xfrm>
          <a:prstGeom prst="ellipse">
            <a:avLst/>
          </a:prstGeom>
          <a:solidFill>
            <a:srgbClr val="7C7D80"/>
          </a:solidFill>
          <a:ln w="12700">
            <a:solidFill>
              <a:srgbClr val="7C7D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Oval 21"/>
          <p:cNvSpPr/>
          <p:nvPr/>
        </p:nvSpPr>
        <p:spPr>
          <a:xfrm>
            <a:off x="7909560" y="1709928"/>
            <a:ext cx="54864" cy="54864"/>
          </a:xfrm>
          <a:prstGeom prst="ellipse">
            <a:avLst/>
          </a:prstGeom>
          <a:solidFill>
            <a:srgbClr val="7C7D80"/>
          </a:solidFill>
          <a:ln w="12700">
            <a:solidFill>
              <a:srgbClr val="7C7D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Oval 22"/>
          <p:cNvSpPr/>
          <p:nvPr/>
        </p:nvSpPr>
        <p:spPr>
          <a:xfrm>
            <a:off x="8019288" y="1709928"/>
            <a:ext cx="54864" cy="54864"/>
          </a:xfrm>
          <a:prstGeom prst="ellipse">
            <a:avLst/>
          </a:prstGeom>
          <a:solidFill>
            <a:srgbClr val="7C7D80"/>
          </a:solidFill>
          <a:ln w="12700">
            <a:solidFill>
              <a:srgbClr val="7C7D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Oval 23"/>
          <p:cNvSpPr/>
          <p:nvPr/>
        </p:nvSpPr>
        <p:spPr>
          <a:xfrm>
            <a:off x="7799832" y="3538728"/>
            <a:ext cx="54864" cy="54864"/>
          </a:xfrm>
          <a:prstGeom prst="ellipse">
            <a:avLst/>
          </a:prstGeom>
          <a:solidFill>
            <a:srgbClr val="7C7D80"/>
          </a:solidFill>
          <a:ln w="12700">
            <a:solidFill>
              <a:srgbClr val="7C7D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Oval 24"/>
          <p:cNvSpPr/>
          <p:nvPr/>
        </p:nvSpPr>
        <p:spPr>
          <a:xfrm>
            <a:off x="7909560" y="3538728"/>
            <a:ext cx="54864" cy="54864"/>
          </a:xfrm>
          <a:prstGeom prst="ellipse">
            <a:avLst/>
          </a:prstGeom>
          <a:solidFill>
            <a:srgbClr val="7C7D80"/>
          </a:solidFill>
          <a:ln w="12700">
            <a:solidFill>
              <a:srgbClr val="7C7D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Oval 25"/>
          <p:cNvSpPr/>
          <p:nvPr/>
        </p:nvSpPr>
        <p:spPr>
          <a:xfrm>
            <a:off x="8019288" y="3538728"/>
            <a:ext cx="54864" cy="54864"/>
          </a:xfrm>
          <a:prstGeom prst="ellipse">
            <a:avLst/>
          </a:prstGeom>
          <a:solidFill>
            <a:srgbClr val="7C7D80"/>
          </a:solidFill>
          <a:ln w="12700">
            <a:solidFill>
              <a:srgbClr val="7C7D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8202168" y="1260979"/>
            <a:ext cx="53035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7C7D80"/>
                </a:solidFill>
                <a:latin typeface="Arial"/>
              </a:rPr>
              <a:t>t = 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6175" y="1463040"/>
            <a:ext cx="402336" cy="237744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8FA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cxnSp>
        <p:nvCxnSpPr>
          <p:cNvPr id="29" name="Connector 28"/>
          <p:cNvCxnSpPr/>
          <p:nvPr/>
        </p:nvCxnSpPr>
        <p:spPr>
          <a:xfrm>
            <a:off x="8467344" y="1920240"/>
            <a:ext cx="0" cy="1463039"/>
          </a:xfrm>
          <a:prstGeom prst="line">
            <a:avLst/>
          </a:prstGeom>
          <a:ln w="15875">
            <a:solidFill>
              <a:srgbClr val="8FA28A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330183" y="1600200"/>
            <a:ext cx="274320" cy="274320"/>
          </a:xfrm>
          <a:prstGeom prst="ellipse">
            <a:avLst/>
          </a:prstGeom>
          <a:solidFill>
            <a:srgbClr val="B4C3CE"/>
          </a:solidFill>
          <a:ln w="12700">
            <a:solidFill>
              <a:srgbClr val="7F9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Oval 30"/>
          <p:cNvSpPr/>
          <p:nvPr/>
        </p:nvSpPr>
        <p:spPr>
          <a:xfrm>
            <a:off x="8330183" y="3429000"/>
            <a:ext cx="274320" cy="274320"/>
          </a:xfrm>
          <a:prstGeom prst="ellipse">
            <a:avLst/>
          </a:prstGeom>
          <a:solidFill>
            <a:srgbClr val="DCC1BD"/>
          </a:solidFill>
          <a:ln w="12700">
            <a:solidFill>
              <a:srgbClr val="B08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31"/>
          <p:cNvSpPr txBox="1"/>
          <p:nvPr/>
        </p:nvSpPr>
        <p:spPr>
          <a:xfrm>
            <a:off x="365760" y="1138761"/>
            <a:ext cx="14630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45464A"/>
                </a:solidFill>
                <a:latin typeface="Arial"/>
              </a:rPr>
              <a:t>Modality 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" y="1463039"/>
            <a:ext cx="182880" cy="548640"/>
          </a:xfrm>
          <a:prstGeom prst="rect">
            <a:avLst/>
          </a:prstGeom>
          <a:solidFill>
            <a:srgbClr val="B4C3CE"/>
          </a:solidFill>
          <a:ln w="9525">
            <a:solidFill>
              <a:srgbClr val="7F9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4" name="Rectangle 33"/>
          <p:cNvSpPr/>
          <p:nvPr/>
        </p:nvSpPr>
        <p:spPr>
          <a:xfrm>
            <a:off x="585216" y="1463039"/>
            <a:ext cx="182880" cy="548640"/>
          </a:xfrm>
          <a:prstGeom prst="rect">
            <a:avLst/>
          </a:prstGeom>
          <a:solidFill>
            <a:srgbClr val="B4C3CE"/>
          </a:solidFill>
          <a:ln w="9525">
            <a:solidFill>
              <a:srgbClr val="7F9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Rectangle 34"/>
          <p:cNvSpPr/>
          <p:nvPr/>
        </p:nvSpPr>
        <p:spPr>
          <a:xfrm>
            <a:off x="795528" y="1463039"/>
            <a:ext cx="182880" cy="548640"/>
          </a:xfrm>
          <a:prstGeom prst="rect">
            <a:avLst/>
          </a:prstGeom>
          <a:solidFill>
            <a:srgbClr val="B4C3CE"/>
          </a:solidFill>
          <a:ln w="9525">
            <a:solidFill>
              <a:srgbClr val="7F9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6" name="Rectangle 35"/>
          <p:cNvSpPr/>
          <p:nvPr/>
        </p:nvSpPr>
        <p:spPr>
          <a:xfrm>
            <a:off x="1005840" y="1463039"/>
            <a:ext cx="182880" cy="548640"/>
          </a:xfrm>
          <a:prstGeom prst="rect">
            <a:avLst/>
          </a:prstGeom>
          <a:solidFill>
            <a:srgbClr val="B4C3CE"/>
          </a:solidFill>
          <a:ln w="9525">
            <a:solidFill>
              <a:srgbClr val="7F9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Rectangle 36"/>
          <p:cNvSpPr/>
          <p:nvPr/>
        </p:nvSpPr>
        <p:spPr>
          <a:xfrm>
            <a:off x="1216152" y="1463039"/>
            <a:ext cx="182880" cy="548640"/>
          </a:xfrm>
          <a:prstGeom prst="rect">
            <a:avLst/>
          </a:prstGeom>
          <a:solidFill>
            <a:srgbClr val="B4C3CE"/>
          </a:solidFill>
          <a:ln w="9525">
            <a:solidFill>
              <a:srgbClr val="7F9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8" name="Rectangle 37"/>
          <p:cNvSpPr/>
          <p:nvPr/>
        </p:nvSpPr>
        <p:spPr>
          <a:xfrm>
            <a:off x="1426464" y="1463039"/>
            <a:ext cx="182880" cy="548640"/>
          </a:xfrm>
          <a:prstGeom prst="rect">
            <a:avLst/>
          </a:prstGeom>
          <a:solidFill>
            <a:srgbClr val="B4C3CE"/>
          </a:solidFill>
          <a:ln w="9525">
            <a:solidFill>
              <a:srgbClr val="7F9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9" name="Rectangle 38"/>
          <p:cNvSpPr/>
          <p:nvPr/>
        </p:nvSpPr>
        <p:spPr>
          <a:xfrm>
            <a:off x="1636776" y="1463039"/>
            <a:ext cx="182880" cy="548640"/>
          </a:xfrm>
          <a:prstGeom prst="rect">
            <a:avLst/>
          </a:prstGeom>
          <a:solidFill>
            <a:srgbClr val="B4C3CE"/>
          </a:solidFill>
          <a:ln w="9525">
            <a:solidFill>
              <a:srgbClr val="7F9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0" name="TextBox 39"/>
          <p:cNvSpPr txBox="1"/>
          <p:nvPr/>
        </p:nvSpPr>
        <p:spPr>
          <a:xfrm>
            <a:off x="182880" y="2093082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dirty="0">
                <a:solidFill>
                  <a:srgbClr val="7C7D80"/>
                </a:solidFill>
                <a:latin typeface="Arial"/>
              </a:rPr>
              <a:t>T = 50 frames  [B, T, D</a:t>
            </a:r>
            <a:r>
              <a:rPr sz="1200" b="0" baseline="-25000" dirty="0">
                <a:solidFill>
                  <a:srgbClr val="7C7D80"/>
                </a:solidFill>
                <a:latin typeface="Arial"/>
              </a:rPr>
              <a:t>1</a:t>
            </a:r>
            <a:r>
              <a:rPr sz="1200" b="0" dirty="0">
                <a:solidFill>
                  <a:srgbClr val="7C7D80"/>
                </a:solidFill>
                <a:latin typeface="Arial"/>
              </a:rPr>
              <a:t>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94560" y="1005839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E6ECF0"/>
          </a:solidFill>
          <a:ln w="15875">
            <a:solidFill>
              <a:srgbClr val="7F9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2" name="TextBox 41"/>
          <p:cNvSpPr txBox="1"/>
          <p:nvPr/>
        </p:nvSpPr>
        <p:spPr>
          <a:xfrm>
            <a:off x="2194560" y="1056465"/>
            <a:ext cx="32918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45464A"/>
                </a:solidFill>
                <a:latin typeface="Arial"/>
              </a:rPr>
              <a:t>Temporal encoder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31720" y="1417319"/>
            <a:ext cx="822960" cy="640080"/>
          </a:xfrm>
          <a:prstGeom prst="roundRect">
            <a:avLst>
              <a:gd name="adj" fmla="val 8571"/>
            </a:avLst>
          </a:prstGeom>
          <a:solidFill>
            <a:srgbClr val="B4C3CE"/>
          </a:solidFill>
          <a:ln w="12700">
            <a:solidFill>
              <a:srgbClr val="7F9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0" dirty="0">
                <a:solidFill>
                  <a:srgbClr val="45464A"/>
                </a:solidFill>
                <a:latin typeface="Arial"/>
              </a:rPr>
              <a:t>Linear</a:t>
            </a:r>
          </a:p>
          <a:p>
            <a:pPr algn="ctr"/>
            <a:r>
              <a:rPr sz="1100" b="0" dirty="0">
                <a:solidFill>
                  <a:srgbClr val="45464A"/>
                </a:solidFill>
                <a:latin typeface="Arial"/>
              </a:rPr>
              <a:t>D</a:t>
            </a:r>
            <a:r>
              <a:rPr sz="1100" b="0" baseline="-25000" dirty="0">
                <a:solidFill>
                  <a:srgbClr val="45464A"/>
                </a:solidFill>
                <a:latin typeface="Arial"/>
              </a:rPr>
              <a:t>1</a:t>
            </a:r>
            <a:r>
              <a:rPr sz="1100" b="0" dirty="0">
                <a:solidFill>
                  <a:srgbClr val="45464A"/>
                </a:solidFill>
                <a:latin typeface="Arial"/>
              </a:rPr>
              <a:t> → 16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39" y="1417319"/>
            <a:ext cx="731520" cy="640080"/>
          </a:xfrm>
          <a:prstGeom prst="roundRect">
            <a:avLst>
              <a:gd name="adj" fmla="val 8571"/>
            </a:avLst>
          </a:prstGeom>
          <a:solidFill>
            <a:srgbClr val="B4C3CE"/>
          </a:solidFill>
          <a:ln w="12700">
            <a:solidFill>
              <a:srgbClr val="7F9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0" dirty="0">
                <a:solidFill>
                  <a:srgbClr val="45464A"/>
                </a:solidFill>
                <a:latin typeface="Arial"/>
              </a:rPr>
              <a:t>Positional</a:t>
            </a:r>
          </a:p>
          <a:p>
            <a:pPr algn="ctr"/>
            <a:r>
              <a:rPr sz="1100" b="0" dirty="0">
                <a:solidFill>
                  <a:srgbClr val="45464A"/>
                </a:solidFill>
                <a:latin typeface="Arial"/>
              </a:rPr>
              <a:t>encoding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60520" y="1417319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B4C3CE"/>
          </a:solidFill>
          <a:ln w="12700">
            <a:solidFill>
              <a:srgbClr val="7F9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0" dirty="0">
                <a:solidFill>
                  <a:srgbClr val="45464A"/>
                </a:solidFill>
                <a:latin typeface="Arial"/>
              </a:rPr>
              <a:t>Transformer</a:t>
            </a:r>
          </a:p>
          <a:p>
            <a:pPr algn="ctr"/>
            <a:r>
              <a:rPr sz="1100" b="0" dirty="0">
                <a:solidFill>
                  <a:srgbClr val="45464A"/>
                </a:solidFill>
                <a:latin typeface="Arial"/>
              </a:rPr>
              <a:t>encoder × 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847088" y="1737360"/>
            <a:ext cx="484632" cy="0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154679" y="1737360"/>
            <a:ext cx="137160" cy="0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023359" y="1737360"/>
            <a:ext cx="137161" cy="0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349240" y="1737360"/>
            <a:ext cx="548640" cy="0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915400" y="1737360"/>
            <a:ext cx="320040" cy="0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2967562"/>
            <a:ext cx="14630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45464A"/>
                </a:solidFill>
                <a:latin typeface="Arial"/>
              </a:rPr>
              <a:t>Modality 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4" y="3291840"/>
            <a:ext cx="182880" cy="548640"/>
          </a:xfrm>
          <a:prstGeom prst="rect">
            <a:avLst/>
          </a:prstGeom>
          <a:solidFill>
            <a:srgbClr val="DCC1BD"/>
          </a:solidFill>
          <a:ln w="9525">
            <a:solidFill>
              <a:srgbClr val="B08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3" name="Rectangle 52"/>
          <p:cNvSpPr/>
          <p:nvPr/>
        </p:nvSpPr>
        <p:spPr>
          <a:xfrm>
            <a:off x="585216" y="3291840"/>
            <a:ext cx="182880" cy="548640"/>
          </a:xfrm>
          <a:prstGeom prst="rect">
            <a:avLst/>
          </a:prstGeom>
          <a:solidFill>
            <a:srgbClr val="DCC1BD"/>
          </a:solidFill>
          <a:ln w="9525">
            <a:solidFill>
              <a:srgbClr val="B08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4" name="Rectangle 53"/>
          <p:cNvSpPr/>
          <p:nvPr/>
        </p:nvSpPr>
        <p:spPr>
          <a:xfrm>
            <a:off x="795528" y="3291840"/>
            <a:ext cx="182880" cy="548640"/>
          </a:xfrm>
          <a:prstGeom prst="rect">
            <a:avLst/>
          </a:prstGeom>
          <a:solidFill>
            <a:srgbClr val="DCC1BD"/>
          </a:solidFill>
          <a:ln w="9525">
            <a:solidFill>
              <a:srgbClr val="B08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5" name="Rectangle 54"/>
          <p:cNvSpPr/>
          <p:nvPr/>
        </p:nvSpPr>
        <p:spPr>
          <a:xfrm>
            <a:off x="1005840" y="3291840"/>
            <a:ext cx="182880" cy="548640"/>
          </a:xfrm>
          <a:prstGeom prst="rect">
            <a:avLst/>
          </a:prstGeom>
          <a:solidFill>
            <a:srgbClr val="DCC1BD"/>
          </a:solidFill>
          <a:ln w="9525">
            <a:solidFill>
              <a:srgbClr val="B08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6" name="Rectangle 55"/>
          <p:cNvSpPr/>
          <p:nvPr/>
        </p:nvSpPr>
        <p:spPr>
          <a:xfrm>
            <a:off x="1216152" y="3291840"/>
            <a:ext cx="182880" cy="548640"/>
          </a:xfrm>
          <a:prstGeom prst="rect">
            <a:avLst/>
          </a:prstGeom>
          <a:solidFill>
            <a:srgbClr val="DCC1BD"/>
          </a:solidFill>
          <a:ln w="9525">
            <a:solidFill>
              <a:srgbClr val="B08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7" name="Rectangle 56"/>
          <p:cNvSpPr/>
          <p:nvPr/>
        </p:nvSpPr>
        <p:spPr>
          <a:xfrm>
            <a:off x="1426464" y="3291840"/>
            <a:ext cx="182880" cy="548640"/>
          </a:xfrm>
          <a:prstGeom prst="rect">
            <a:avLst/>
          </a:prstGeom>
          <a:solidFill>
            <a:srgbClr val="DCC1BD"/>
          </a:solidFill>
          <a:ln w="9525">
            <a:solidFill>
              <a:srgbClr val="B08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8" name="Rectangle 57"/>
          <p:cNvSpPr/>
          <p:nvPr/>
        </p:nvSpPr>
        <p:spPr>
          <a:xfrm>
            <a:off x="1636776" y="3291840"/>
            <a:ext cx="182880" cy="548640"/>
          </a:xfrm>
          <a:prstGeom prst="rect">
            <a:avLst/>
          </a:prstGeom>
          <a:solidFill>
            <a:srgbClr val="DCC1BD"/>
          </a:solidFill>
          <a:ln w="9525">
            <a:solidFill>
              <a:srgbClr val="B08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9" name="TextBox 58"/>
          <p:cNvSpPr txBox="1"/>
          <p:nvPr/>
        </p:nvSpPr>
        <p:spPr>
          <a:xfrm>
            <a:off x="182880" y="3921883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dirty="0">
                <a:solidFill>
                  <a:srgbClr val="7C7D80"/>
                </a:solidFill>
                <a:latin typeface="Arial"/>
              </a:rPr>
              <a:t>T = 50 frames  [B, T, D</a:t>
            </a:r>
            <a:r>
              <a:rPr sz="1200" b="0" baseline="-25000" dirty="0">
                <a:solidFill>
                  <a:srgbClr val="7C7D80"/>
                </a:solidFill>
                <a:latin typeface="Arial"/>
              </a:rPr>
              <a:t>M</a:t>
            </a:r>
            <a:r>
              <a:rPr sz="1200" b="0" dirty="0">
                <a:solidFill>
                  <a:srgbClr val="7C7D80"/>
                </a:solidFill>
                <a:latin typeface="Arial"/>
              </a:rPr>
              <a:t>]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194560" y="2834639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4E9E7"/>
          </a:solidFill>
          <a:ln w="15875">
            <a:solidFill>
              <a:srgbClr val="B08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1" name="TextBox 60"/>
          <p:cNvSpPr txBox="1"/>
          <p:nvPr/>
        </p:nvSpPr>
        <p:spPr>
          <a:xfrm>
            <a:off x="2194560" y="2885265"/>
            <a:ext cx="32918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45464A"/>
                </a:solidFill>
                <a:latin typeface="Arial"/>
              </a:rPr>
              <a:t>Temporal encoder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31720" y="324612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DCC1BD"/>
          </a:solidFill>
          <a:ln w="12700">
            <a:solidFill>
              <a:srgbClr val="B08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0" dirty="0">
                <a:solidFill>
                  <a:srgbClr val="45464A"/>
                </a:solidFill>
                <a:latin typeface="Arial"/>
              </a:rPr>
              <a:t>Linear</a:t>
            </a:r>
          </a:p>
          <a:p>
            <a:pPr algn="ctr"/>
            <a:r>
              <a:rPr sz="1100" b="0" dirty="0">
                <a:solidFill>
                  <a:srgbClr val="45464A"/>
                </a:solidFill>
                <a:latin typeface="Arial"/>
              </a:rPr>
              <a:t>D</a:t>
            </a:r>
            <a:r>
              <a:rPr sz="1100" b="0" baseline="-25000" dirty="0">
                <a:solidFill>
                  <a:srgbClr val="45464A"/>
                </a:solidFill>
                <a:latin typeface="Arial"/>
              </a:rPr>
              <a:t>M</a:t>
            </a:r>
            <a:r>
              <a:rPr sz="1100" b="0" dirty="0">
                <a:solidFill>
                  <a:srgbClr val="45464A"/>
                </a:solidFill>
                <a:latin typeface="Arial"/>
              </a:rPr>
              <a:t> → 16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91839" y="324612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DCC1BD"/>
          </a:solidFill>
          <a:ln w="12700">
            <a:solidFill>
              <a:srgbClr val="B08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0" dirty="0">
                <a:solidFill>
                  <a:srgbClr val="45464A"/>
                </a:solidFill>
                <a:latin typeface="Arial"/>
              </a:rPr>
              <a:t>Positional</a:t>
            </a:r>
          </a:p>
          <a:p>
            <a:pPr algn="ctr"/>
            <a:r>
              <a:rPr sz="1100" b="0" dirty="0">
                <a:solidFill>
                  <a:srgbClr val="45464A"/>
                </a:solidFill>
                <a:latin typeface="Arial"/>
              </a:rPr>
              <a:t>encoding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60520" y="324612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DCC1BD"/>
          </a:solidFill>
          <a:ln w="12700">
            <a:solidFill>
              <a:srgbClr val="B08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100" b="0" dirty="0">
                <a:solidFill>
                  <a:srgbClr val="45464A"/>
                </a:solidFill>
                <a:latin typeface="Arial"/>
              </a:rPr>
              <a:t>Transformer</a:t>
            </a:r>
            <a:endParaRPr sz="1200" b="0" dirty="0">
              <a:solidFill>
                <a:srgbClr val="45464A"/>
              </a:solidFill>
              <a:latin typeface="Arial"/>
            </a:endParaRPr>
          </a:p>
          <a:p>
            <a:pPr algn="ctr"/>
            <a:r>
              <a:rPr sz="1200" b="0" dirty="0">
                <a:solidFill>
                  <a:srgbClr val="45464A"/>
                </a:solidFill>
                <a:latin typeface="Arial"/>
              </a:rPr>
              <a:t>encoder × 3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847088" y="3566160"/>
            <a:ext cx="484632" cy="0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154679" y="3566160"/>
            <a:ext cx="137160" cy="0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023359" y="3566160"/>
            <a:ext cx="137161" cy="0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349240" y="3566160"/>
            <a:ext cx="548640" cy="0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915400" y="3566160"/>
            <a:ext cx="320040" cy="0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069848" y="2514600"/>
            <a:ext cx="54864" cy="54864"/>
          </a:xfrm>
          <a:prstGeom prst="ellipse">
            <a:avLst/>
          </a:prstGeom>
          <a:solidFill>
            <a:srgbClr val="7C7D80"/>
          </a:solidFill>
          <a:ln w="12700">
            <a:solidFill>
              <a:srgbClr val="7C7D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1" name="Oval 70"/>
          <p:cNvSpPr/>
          <p:nvPr/>
        </p:nvSpPr>
        <p:spPr>
          <a:xfrm>
            <a:off x="1069848" y="2624328"/>
            <a:ext cx="54864" cy="54864"/>
          </a:xfrm>
          <a:prstGeom prst="ellipse">
            <a:avLst/>
          </a:prstGeom>
          <a:solidFill>
            <a:srgbClr val="7C7D80"/>
          </a:solidFill>
          <a:ln w="12700">
            <a:solidFill>
              <a:srgbClr val="7C7D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2" name="Oval 71"/>
          <p:cNvSpPr/>
          <p:nvPr/>
        </p:nvSpPr>
        <p:spPr>
          <a:xfrm>
            <a:off x="1069848" y="2734056"/>
            <a:ext cx="54864" cy="54864"/>
          </a:xfrm>
          <a:prstGeom prst="ellipse">
            <a:avLst/>
          </a:prstGeom>
          <a:solidFill>
            <a:srgbClr val="7C7D80"/>
          </a:solidFill>
          <a:ln w="12700">
            <a:solidFill>
              <a:srgbClr val="7C7D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3" name="Oval 72"/>
          <p:cNvSpPr/>
          <p:nvPr/>
        </p:nvSpPr>
        <p:spPr>
          <a:xfrm>
            <a:off x="3813048" y="2514600"/>
            <a:ext cx="54864" cy="54864"/>
          </a:xfrm>
          <a:prstGeom prst="ellipse">
            <a:avLst/>
          </a:prstGeom>
          <a:solidFill>
            <a:srgbClr val="7C7D80"/>
          </a:solidFill>
          <a:ln w="12700">
            <a:solidFill>
              <a:srgbClr val="7C7D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4" name="Oval 73"/>
          <p:cNvSpPr/>
          <p:nvPr/>
        </p:nvSpPr>
        <p:spPr>
          <a:xfrm>
            <a:off x="3813048" y="2624328"/>
            <a:ext cx="54864" cy="54864"/>
          </a:xfrm>
          <a:prstGeom prst="ellipse">
            <a:avLst/>
          </a:prstGeom>
          <a:solidFill>
            <a:srgbClr val="7C7D80"/>
          </a:solidFill>
          <a:ln w="12700">
            <a:solidFill>
              <a:srgbClr val="7C7D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5" name="Oval 74"/>
          <p:cNvSpPr/>
          <p:nvPr/>
        </p:nvSpPr>
        <p:spPr>
          <a:xfrm>
            <a:off x="3813048" y="2734056"/>
            <a:ext cx="54864" cy="54864"/>
          </a:xfrm>
          <a:prstGeom prst="ellipse">
            <a:avLst/>
          </a:prstGeom>
          <a:solidFill>
            <a:srgbClr val="7C7D80"/>
          </a:solidFill>
          <a:ln w="12700">
            <a:solidFill>
              <a:srgbClr val="7C7D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6" name="Rounded Rectangle 75"/>
          <p:cNvSpPr/>
          <p:nvPr/>
        </p:nvSpPr>
        <p:spPr>
          <a:xfrm>
            <a:off x="9235440" y="1371600"/>
            <a:ext cx="411480" cy="2560320"/>
          </a:xfrm>
          <a:prstGeom prst="roundRect">
            <a:avLst>
              <a:gd name="adj" fmla="val 13333"/>
            </a:avLst>
          </a:prstGeom>
          <a:solidFill>
            <a:srgbClr val="C3CFBE"/>
          </a:solidFill>
          <a:ln w="12700">
            <a:solidFill>
              <a:srgbClr val="8FA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wrap="square" lIns="36576" tIns="36576" rIns="36576" bIns="36576" rtlCol="0" anchor="ctr"/>
          <a:lstStyle/>
          <a:p>
            <a:pPr algn="ctr"/>
            <a:r>
              <a:rPr sz="1400" b="0">
                <a:solidFill>
                  <a:srgbClr val="45464A"/>
                </a:solidFill>
                <a:latin typeface="Arial"/>
              </a:rPr>
              <a:t>Mask  ·  Concat  ·  Flatten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646920" y="2651760"/>
            <a:ext cx="320040" cy="0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9966960" y="210312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CFC5D3"/>
          </a:solidFill>
          <a:ln w="12700">
            <a:solidFill>
              <a:srgbClr val="9A8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600" b="1" dirty="0">
                <a:solidFill>
                  <a:srgbClr val="45464A"/>
                </a:solidFill>
                <a:latin typeface="Arial"/>
              </a:rPr>
              <a:t>Classifier head</a:t>
            </a:r>
          </a:p>
          <a:p>
            <a:pPr algn="ctr"/>
            <a:r>
              <a:rPr sz="1200" b="0" dirty="0">
                <a:solidFill>
                  <a:srgbClr val="45464A"/>
                </a:solidFill>
                <a:latin typeface="Arial"/>
              </a:rPr>
              <a:t>Linear → GELU →</a:t>
            </a:r>
          </a:p>
          <a:p>
            <a:pPr algn="ctr"/>
            <a:r>
              <a:rPr sz="1200" b="0" dirty="0">
                <a:solidFill>
                  <a:srgbClr val="45464A"/>
                </a:solidFill>
                <a:latin typeface="Arial"/>
              </a:rPr>
              <a:t>Dropout → Linear</a:t>
            </a:r>
          </a:p>
        </p:txBody>
      </p:sp>
      <p:cxnSp>
        <p:nvCxnSpPr>
          <p:cNvPr id="79" name="Connector 78"/>
          <p:cNvCxnSpPr>
            <a:cxnSpLocks/>
          </p:cNvCxnSpPr>
          <p:nvPr/>
        </p:nvCxnSpPr>
        <p:spPr>
          <a:xfrm>
            <a:off x="10881360" y="3200400"/>
            <a:ext cx="0" cy="411480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9966960" y="36118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8B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n-US" sz="1400" b="0" dirty="0">
                <a:solidFill>
                  <a:srgbClr val="45464A"/>
                </a:solidFill>
                <a:latin typeface="Arial"/>
              </a:rPr>
              <a:t>Which Vote?</a:t>
            </a:r>
            <a:endParaRPr sz="1400" b="0" dirty="0">
              <a:solidFill>
                <a:srgbClr val="45464A"/>
              </a:solidFill>
              <a:latin typeface="Arial"/>
            </a:endParaRPr>
          </a:p>
        </p:txBody>
      </p:sp>
      <p:cxnSp>
        <p:nvCxnSpPr>
          <p:cNvPr id="81" name="Connector 80"/>
          <p:cNvCxnSpPr>
            <a:cxnSpLocks/>
            <a:endCxn id="91" idx="0"/>
          </p:cNvCxnSpPr>
          <p:nvPr/>
        </p:nvCxnSpPr>
        <p:spPr>
          <a:xfrm>
            <a:off x="10881360" y="4069080"/>
            <a:ext cx="0" cy="955548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5897880" y="4800600"/>
            <a:ext cx="3017520" cy="1510206"/>
          </a:xfrm>
          <a:prstGeom prst="roundRect">
            <a:avLst>
              <a:gd name="adj" fmla="val 6666"/>
            </a:avLst>
          </a:prstGeom>
          <a:solidFill>
            <a:srgbClr val="F6F1E5"/>
          </a:solidFill>
          <a:ln w="15875">
            <a:solidFill>
              <a:srgbClr val="B5A2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cxnSp>
        <p:nvCxnSpPr>
          <p:cNvPr id="83" name="Connector 82"/>
          <p:cNvCxnSpPr/>
          <p:nvPr/>
        </p:nvCxnSpPr>
        <p:spPr>
          <a:xfrm>
            <a:off x="6675120" y="4343400"/>
            <a:ext cx="0" cy="640080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784848" y="4356557"/>
            <a:ext cx="23774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7C7D80"/>
                </a:solidFill>
                <a:latin typeface="Arial"/>
              </a:rPr>
              <a:t>fused tokens  [B, T, 16] per modality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035040" y="498348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E3D7BE"/>
          </a:solidFill>
          <a:ln w="12700">
            <a:solidFill>
              <a:srgbClr val="B5A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0">
                <a:solidFill>
                  <a:srgbClr val="45464A"/>
                </a:solidFill>
                <a:latin typeface="Arial"/>
              </a:rPr>
              <a:t>Masked mean</a:t>
            </a:r>
          </a:p>
          <a:p>
            <a:pPr algn="ctr"/>
            <a:r>
              <a:rPr sz="1400" b="0">
                <a:solidFill>
                  <a:srgbClr val="45464A"/>
                </a:solidFill>
                <a:latin typeface="Arial"/>
              </a:rPr>
              <a:t>pool over 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498079" y="498348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E3D7BE"/>
          </a:solidFill>
          <a:ln w="12700">
            <a:solidFill>
              <a:srgbClr val="B5A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400" b="0">
                <a:solidFill>
                  <a:srgbClr val="45464A"/>
                </a:solidFill>
                <a:latin typeface="Arial"/>
              </a:rPr>
              <a:t>Auxiliary head</a:t>
            </a:r>
          </a:p>
          <a:p>
            <a:pPr algn="ctr"/>
            <a:r>
              <a:rPr sz="1400" b="0">
                <a:solidFill>
                  <a:srgbClr val="45464A"/>
                </a:solidFill>
                <a:latin typeface="Arial"/>
              </a:rPr>
              <a:t>(MLP) × M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7315200" y="5326380"/>
            <a:ext cx="182879" cy="0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5897880" y="5764171"/>
            <a:ext cx="30175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45464A"/>
                </a:solidFill>
                <a:latin typeface="Arial"/>
              </a:rPr>
              <a:t>Auxiliary supervision (training only)</a:t>
            </a:r>
          </a:p>
        </p:txBody>
      </p:sp>
      <p:cxnSp>
        <p:nvCxnSpPr>
          <p:cNvPr id="89" name="Connector 88"/>
          <p:cNvCxnSpPr>
            <a:cxnSpLocks/>
            <a:endCxn id="91" idx="1"/>
          </p:cNvCxnSpPr>
          <p:nvPr/>
        </p:nvCxnSpPr>
        <p:spPr>
          <a:xfrm>
            <a:off x="8778240" y="5326380"/>
            <a:ext cx="1330458" cy="0"/>
          </a:xfrm>
          <a:prstGeom prst="line">
            <a:avLst/>
          </a:prstGeom>
          <a:ln w="15875">
            <a:solidFill>
              <a:srgbClr val="7778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10108698" y="5024628"/>
            <a:ext cx="1545323" cy="603504"/>
          </a:xfrm>
          <a:prstGeom prst="roundRect">
            <a:avLst>
              <a:gd name="adj" fmla="val 5714"/>
            </a:avLst>
          </a:prstGeom>
          <a:solidFill>
            <a:srgbClr val="C9C1B9"/>
          </a:solidFill>
          <a:ln w="12700">
            <a:solidFill>
              <a:srgbClr val="8A81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600" b="1" dirty="0">
                <a:solidFill>
                  <a:srgbClr val="45464A"/>
                </a:solidFill>
                <a:latin typeface="Arial"/>
              </a:rPr>
              <a:t>Training loss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1684</TotalTime>
  <Words>118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Deng, Zeyu</cp:lastModifiedBy>
  <cp:revision>2</cp:revision>
  <dcterms:created xsi:type="dcterms:W3CDTF">2013-01-27T09:14:16Z</dcterms:created>
  <dcterms:modified xsi:type="dcterms:W3CDTF">2026-10-08T00:38:49Z</dcterms:modified>
  <cp:category/>
</cp:coreProperties>
</file>