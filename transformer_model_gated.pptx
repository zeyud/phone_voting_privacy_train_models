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00800" cy="34747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886968"/>
            <a:ext cx="841248" cy="667512"/>
            <a:chOff x="0" y="886968"/>
            <a:chExt cx="841248" cy="667512"/>
          </a:xfrm>
        </p:grpSpPr>
        <p:sp>
          <p:nvSpPr>
            <p:cNvPr id="3" name="TextBox 2"/>
            <p:cNvSpPr txBox="1"/>
            <p:nvPr/>
          </p:nvSpPr>
          <p:spPr>
            <a:xfrm>
              <a:off x="0" y="886968"/>
              <a:ext cx="841248" cy="1554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45464A"/>
                  </a:solidFill>
                  <a:latin typeface="Arial"/>
                </a:rPr>
                <a:t>Eye feature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" y="1115568"/>
              <a:ext cx="91440" cy="274320"/>
            </a:xfrm>
            <a:prstGeom prst="rect">
              <a:avLst/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61574" y="1115568"/>
              <a:ext cx="91440" cy="274320"/>
            </a:xfrm>
            <a:prstGeom prst="rect">
              <a:avLst/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68284" y="1115568"/>
              <a:ext cx="91440" cy="274320"/>
            </a:xfrm>
            <a:prstGeom prst="rect">
              <a:avLst/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74995" y="1115568"/>
              <a:ext cx="91440" cy="274320"/>
            </a:xfrm>
            <a:prstGeom prst="rect">
              <a:avLst/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81705" y="1115568"/>
              <a:ext cx="91440" cy="274320"/>
            </a:xfrm>
            <a:prstGeom prst="rect">
              <a:avLst/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88416" y="1115568"/>
              <a:ext cx="91440" cy="274320"/>
            </a:xfrm>
            <a:prstGeom prst="rect">
              <a:avLst/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5126" y="1115568"/>
              <a:ext cx="91440" cy="274320"/>
            </a:xfrm>
            <a:prstGeom prst="rect">
              <a:avLst/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0" y="1408176"/>
              <a:ext cx="841248" cy="14630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T × 39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0" y="1783080"/>
            <a:ext cx="841248" cy="667512"/>
            <a:chOff x="0" y="1783080"/>
            <a:chExt cx="841248" cy="667512"/>
          </a:xfrm>
        </p:grpSpPr>
        <p:sp>
          <p:nvSpPr>
            <p:cNvPr id="13" name="TextBox 12"/>
            <p:cNvSpPr txBox="1"/>
            <p:nvPr/>
          </p:nvSpPr>
          <p:spPr>
            <a:xfrm>
              <a:off x="0" y="1783080"/>
              <a:ext cx="841248" cy="1554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45464A"/>
                  </a:solidFill>
                  <a:latin typeface="Arial"/>
                </a:rPr>
                <a:t>Optical flow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4864" y="2011680"/>
              <a:ext cx="91440" cy="274320"/>
            </a:xfrm>
            <a:prstGeom prst="rect">
              <a:avLst/>
            </a:prstGeom>
            <a:solidFill>
              <a:srgbClr val="DCC1BD"/>
            </a:solidFill>
            <a:ln w="9525">
              <a:solidFill>
                <a:srgbClr val="B08E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61574" y="2011680"/>
              <a:ext cx="91440" cy="274320"/>
            </a:xfrm>
            <a:prstGeom prst="rect">
              <a:avLst/>
            </a:prstGeom>
            <a:solidFill>
              <a:srgbClr val="DCC1BD"/>
            </a:solidFill>
            <a:ln w="9525">
              <a:solidFill>
                <a:srgbClr val="B08E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68284" y="2011680"/>
              <a:ext cx="91440" cy="274320"/>
            </a:xfrm>
            <a:prstGeom prst="rect">
              <a:avLst/>
            </a:prstGeom>
            <a:solidFill>
              <a:srgbClr val="DCC1BD"/>
            </a:solidFill>
            <a:ln w="9525">
              <a:solidFill>
                <a:srgbClr val="B08E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74995" y="2011680"/>
              <a:ext cx="91440" cy="274320"/>
            </a:xfrm>
            <a:prstGeom prst="rect">
              <a:avLst/>
            </a:prstGeom>
            <a:solidFill>
              <a:srgbClr val="DCC1BD"/>
            </a:solidFill>
            <a:ln w="9525">
              <a:solidFill>
                <a:srgbClr val="B08E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81705" y="2011680"/>
              <a:ext cx="91440" cy="274320"/>
            </a:xfrm>
            <a:prstGeom prst="rect">
              <a:avLst/>
            </a:prstGeom>
            <a:solidFill>
              <a:srgbClr val="DCC1BD"/>
            </a:solidFill>
            <a:ln w="9525">
              <a:solidFill>
                <a:srgbClr val="B08E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88416" y="2011680"/>
              <a:ext cx="91440" cy="274320"/>
            </a:xfrm>
            <a:prstGeom prst="rect">
              <a:avLst/>
            </a:prstGeom>
            <a:solidFill>
              <a:srgbClr val="DCC1BD"/>
            </a:solidFill>
            <a:ln w="9525">
              <a:solidFill>
                <a:srgbClr val="B08E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95126" y="2011680"/>
              <a:ext cx="91440" cy="274320"/>
            </a:xfrm>
            <a:prstGeom prst="rect">
              <a:avLst/>
            </a:prstGeom>
            <a:solidFill>
              <a:srgbClr val="DCC1BD"/>
            </a:solidFill>
            <a:ln w="9525">
              <a:solidFill>
                <a:srgbClr val="B08E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0" y="2304288"/>
              <a:ext cx="841248" cy="14630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T × 8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0" y="2478024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45464A"/>
                </a:solidFill>
                <a:latin typeface="Arial"/>
              </a:rPr>
              <a:t>both resampled</a:t>
            </a:r>
          </a:p>
          <a:p>
            <a:pPr algn="ctr"/>
            <a:r>
              <a:rPr sz="800" b="0" i="1">
                <a:solidFill>
                  <a:srgbClr val="45464A"/>
                </a:solidFill>
                <a:latin typeface="Arial"/>
              </a:rPr>
              <a:t>to T = 50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932688" y="804672"/>
            <a:ext cx="1847088" cy="731520"/>
            <a:chOff x="932688" y="804672"/>
            <a:chExt cx="1847088" cy="731520"/>
          </a:xfrm>
        </p:grpSpPr>
        <p:sp>
          <p:nvSpPr>
            <p:cNvPr id="24" name="Rounded Rectangle 23"/>
            <p:cNvSpPr/>
            <p:nvPr/>
          </p:nvSpPr>
          <p:spPr>
            <a:xfrm>
              <a:off x="932688" y="804672"/>
              <a:ext cx="1847088" cy="731520"/>
            </a:xfrm>
            <a:prstGeom prst="roundRect">
              <a:avLst>
                <a:gd name="adj" fmla="val 8750"/>
              </a:avLst>
            </a:prstGeom>
            <a:solidFill>
              <a:srgbClr val="E6EBEF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87552" y="832104"/>
              <a:ext cx="1188720" cy="16459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900" b="1" i="0">
                  <a:solidFill>
                    <a:srgbClr val="45464A"/>
                  </a:solidFill>
                  <a:latin typeface="Arial"/>
                </a:rPr>
                <a:t>Temporal encoder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2322576" y="845820"/>
              <a:ext cx="402336" cy="13716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800" b="0" i="1">
                  <a:solidFill>
                    <a:srgbClr val="45464A"/>
                  </a:solidFill>
                  <a:latin typeface="Arial"/>
                </a:rPr>
                <a:t>frozen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78408" y="1024128"/>
              <a:ext cx="420624" cy="457200"/>
            </a:xfrm>
            <a:prstGeom prst="roundRect">
              <a:avLst>
                <a:gd name="adj" fmla="val 10869"/>
              </a:avLst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Linear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39 → 16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472184" y="1024128"/>
              <a:ext cx="530352" cy="457200"/>
            </a:xfrm>
            <a:prstGeom prst="roundRect">
              <a:avLst>
                <a:gd name="adj" fmla="val 10000"/>
              </a:avLst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Positional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encoding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075688" y="1024128"/>
              <a:ext cx="658368" cy="457200"/>
            </a:xfrm>
            <a:prstGeom prst="roundRect">
              <a:avLst>
                <a:gd name="adj" fmla="val 10000"/>
              </a:avLst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Transformer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encoder × 3</a:t>
              </a:r>
            </a:p>
          </p:txBody>
        </p:sp>
        <p:cxnSp>
          <p:nvCxnSpPr>
            <p:cNvPr id="30" name="Connector 29"/>
            <p:cNvCxnSpPr/>
            <p:nvPr/>
          </p:nvCxnSpPr>
          <p:spPr>
            <a:xfrm>
              <a:off x="1399032" y="1252728"/>
              <a:ext cx="73152" cy="0"/>
            </a:xfrm>
            <a:prstGeom prst="line">
              <a:avLst/>
            </a:prstGeom>
            <a:ln w="9525">
              <a:solidFill>
                <a:srgbClr val="77787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2002536" y="1252728"/>
              <a:ext cx="73152" cy="0"/>
            </a:xfrm>
            <a:prstGeom prst="line">
              <a:avLst/>
            </a:prstGeom>
            <a:ln w="9525">
              <a:solidFill>
                <a:srgbClr val="77787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932688" y="1700784"/>
            <a:ext cx="1847088" cy="731520"/>
            <a:chOff x="932688" y="1700784"/>
            <a:chExt cx="1847088" cy="731520"/>
          </a:xfrm>
        </p:grpSpPr>
        <p:sp>
          <p:nvSpPr>
            <p:cNvPr id="33" name="Rounded Rectangle 32"/>
            <p:cNvSpPr/>
            <p:nvPr/>
          </p:nvSpPr>
          <p:spPr>
            <a:xfrm>
              <a:off x="932688" y="1700784"/>
              <a:ext cx="1847088" cy="731520"/>
            </a:xfrm>
            <a:prstGeom prst="roundRect">
              <a:avLst>
                <a:gd name="adj" fmla="val 8750"/>
              </a:avLst>
            </a:prstGeom>
            <a:solidFill>
              <a:srgbClr val="F3E9E7"/>
            </a:solidFill>
            <a:ln w="9525">
              <a:solidFill>
                <a:srgbClr val="B08E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87552" y="1728216"/>
              <a:ext cx="1188720" cy="16459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900" b="1" i="0">
                  <a:solidFill>
                    <a:srgbClr val="45464A"/>
                  </a:solidFill>
                  <a:latin typeface="Arial"/>
                </a:rPr>
                <a:t>Temporal encoder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978408" y="1920240"/>
              <a:ext cx="420624" cy="457200"/>
            </a:xfrm>
            <a:prstGeom prst="roundRect">
              <a:avLst>
                <a:gd name="adj" fmla="val 10869"/>
              </a:avLst>
            </a:prstGeom>
            <a:solidFill>
              <a:srgbClr val="DCC1BD"/>
            </a:solidFill>
            <a:ln w="9525">
              <a:solidFill>
                <a:srgbClr val="B08E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Linear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8 → 16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472184" y="1920240"/>
              <a:ext cx="530352" cy="457200"/>
            </a:xfrm>
            <a:prstGeom prst="roundRect">
              <a:avLst>
                <a:gd name="adj" fmla="val 10000"/>
              </a:avLst>
            </a:prstGeom>
            <a:solidFill>
              <a:srgbClr val="DCC1BD"/>
            </a:solidFill>
            <a:ln w="9525">
              <a:solidFill>
                <a:srgbClr val="B08E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Positional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encoding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2075688" y="1920240"/>
              <a:ext cx="658368" cy="457200"/>
            </a:xfrm>
            <a:prstGeom prst="roundRect">
              <a:avLst>
                <a:gd name="adj" fmla="val 10000"/>
              </a:avLst>
            </a:prstGeom>
            <a:solidFill>
              <a:srgbClr val="DCC1BD"/>
            </a:solidFill>
            <a:ln w="9525">
              <a:solidFill>
                <a:srgbClr val="B08E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Transformer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encoder × 3</a:t>
              </a:r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1399032" y="2148840"/>
              <a:ext cx="73152" cy="0"/>
            </a:xfrm>
            <a:prstGeom prst="line">
              <a:avLst/>
            </a:prstGeom>
            <a:ln w="9525">
              <a:solidFill>
                <a:srgbClr val="77787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2002536" y="2148840"/>
              <a:ext cx="73152" cy="0"/>
            </a:xfrm>
            <a:prstGeom prst="line">
              <a:avLst/>
            </a:prstGeom>
            <a:ln w="9525">
              <a:solidFill>
                <a:srgbClr val="77787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Connector 39"/>
          <p:cNvCxnSpPr/>
          <p:nvPr/>
        </p:nvCxnSpPr>
        <p:spPr>
          <a:xfrm>
            <a:off x="786384" y="1252728"/>
            <a:ext cx="192024" cy="0"/>
          </a:xfrm>
          <a:prstGeom prst="line">
            <a:avLst/>
          </a:prstGeom>
          <a:ln w="9525">
            <a:solidFill>
              <a:srgbClr val="7778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86384" y="2148840"/>
            <a:ext cx="192024" cy="0"/>
          </a:xfrm>
          <a:prstGeom prst="line">
            <a:avLst/>
          </a:prstGeom>
          <a:ln w="9525">
            <a:solidFill>
              <a:srgbClr val="7778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/>
          <p:cNvGrpSpPr/>
          <p:nvPr/>
        </p:nvGrpSpPr>
        <p:grpSpPr>
          <a:xfrm>
            <a:off x="36576" y="2798064"/>
            <a:ext cx="2798064" cy="640080"/>
            <a:chOff x="36576" y="2798064"/>
            <a:chExt cx="2798064" cy="640080"/>
          </a:xfrm>
        </p:grpSpPr>
        <p:sp>
          <p:nvSpPr>
            <p:cNvPr id="43" name="Rounded Rectangle 42"/>
            <p:cNvSpPr/>
            <p:nvPr/>
          </p:nvSpPr>
          <p:spPr>
            <a:xfrm>
              <a:off x="36576" y="2798064"/>
              <a:ext cx="2798064" cy="640080"/>
            </a:xfrm>
            <a:prstGeom prst="roundRect">
              <a:avLst>
                <a:gd name="adj" fmla="val 10000"/>
              </a:avLst>
            </a:prstGeom>
            <a:solidFill>
              <a:srgbClr val="F4F2EE"/>
            </a:solidFill>
            <a:ln w="9525">
              <a:solidFill>
                <a:srgbClr val="A9A39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1440" y="2816352"/>
              <a:ext cx="2651760" cy="14630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800" b="1" i="0">
                  <a:solidFill>
                    <a:srgbClr val="45464A"/>
                  </a:solidFill>
                  <a:latin typeface="Arial"/>
                </a:rPr>
                <a:t>One encoder layer (× 3 per encoder, 4 heads)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82296" y="3008376"/>
              <a:ext cx="658368" cy="36576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A9A3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rIns="0" tIns="0" bIns="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Multi-head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self-attention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800100" y="3008376"/>
              <a:ext cx="548640" cy="36576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A9A3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rIns="0" tIns="0" bIns="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Add &amp;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BatchNorm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1408176" y="3008376"/>
              <a:ext cx="768096" cy="36576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A9A3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rIns="0" tIns="0" bIns="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Feed-forward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16 → 256 → 16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2235708" y="3008376"/>
              <a:ext cx="548640" cy="36576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A9A3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rIns="0" tIns="0" bIns="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Add &amp;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BatchNorm</a:t>
              </a:r>
            </a:p>
          </p:txBody>
        </p:sp>
        <p:cxnSp>
          <p:nvCxnSpPr>
            <p:cNvPr id="49" name="Connector 48"/>
            <p:cNvCxnSpPr/>
            <p:nvPr/>
          </p:nvCxnSpPr>
          <p:spPr>
            <a:xfrm>
              <a:off x="740664" y="3191256"/>
              <a:ext cx="59436" cy="0"/>
            </a:xfrm>
            <a:prstGeom prst="line">
              <a:avLst/>
            </a:prstGeom>
            <a:ln w="9525">
              <a:solidFill>
                <a:srgbClr val="77787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>
              <a:off x="1348740" y="3191256"/>
              <a:ext cx="59436" cy="0"/>
            </a:xfrm>
            <a:prstGeom prst="line">
              <a:avLst/>
            </a:prstGeom>
            <a:ln w="9525">
              <a:solidFill>
                <a:srgbClr val="77787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>
              <a:off x="2176272" y="3191256"/>
              <a:ext cx="59436" cy="0"/>
            </a:xfrm>
            <a:prstGeom prst="line">
              <a:avLst/>
            </a:prstGeom>
            <a:ln w="9525">
              <a:solidFill>
                <a:srgbClr val="77787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Connector 51"/>
          <p:cNvCxnSpPr/>
          <p:nvPr/>
        </p:nvCxnSpPr>
        <p:spPr>
          <a:xfrm>
            <a:off x="2404872" y="2377440"/>
            <a:ext cx="0" cy="420624"/>
          </a:xfrm>
          <a:prstGeom prst="line">
            <a:avLst/>
          </a:prstGeom>
          <a:ln w="9525">
            <a:solidFill>
              <a:srgbClr val="77787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/>
          <p:cNvGrpSpPr/>
          <p:nvPr/>
        </p:nvGrpSpPr>
        <p:grpSpPr>
          <a:xfrm>
            <a:off x="2944368" y="749808"/>
            <a:ext cx="1408176" cy="1865376"/>
            <a:chOff x="2944368" y="749808"/>
            <a:chExt cx="1408176" cy="1865376"/>
          </a:xfrm>
        </p:grpSpPr>
        <p:sp>
          <p:nvSpPr>
            <p:cNvPr id="54" name="Rounded Rectangle 53"/>
            <p:cNvSpPr/>
            <p:nvPr/>
          </p:nvSpPr>
          <p:spPr>
            <a:xfrm>
              <a:off x="2944368" y="749808"/>
              <a:ext cx="1408176" cy="1865376"/>
            </a:xfrm>
            <a:prstGeom prst="roundRect">
              <a:avLst>
                <a:gd name="adj" fmla="val 4545"/>
              </a:avLst>
            </a:prstGeom>
            <a:solidFill>
              <a:srgbClr val="E8EDE5"/>
            </a:solidFill>
            <a:ln w="12700">
              <a:solidFill>
                <a:srgbClr val="8FA2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944368" y="768096"/>
              <a:ext cx="1408176" cy="16459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45464A"/>
                  </a:solidFill>
                  <a:latin typeface="Arial"/>
                </a:rPr>
                <a:t>Cross-modal fusion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990088" y="932688"/>
              <a:ext cx="274320" cy="1371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t = 1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3026664" y="1078992"/>
              <a:ext cx="201168" cy="1243584"/>
            </a:xfrm>
            <a:prstGeom prst="roundRect">
              <a:avLst>
                <a:gd name="adj" fmla="val 27272"/>
              </a:avLst>
            </a:prstGeom>
            <a:solidFill>
              <a:srgbClr val="FFFFFF"/>
            </a:solidFill>
            <a:ln w="9525">
              <a:solidFill>
                <a:srgbClr val="8FA2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8" name="Connector 57"/>
            <p:cNvCxnSpPr/>
            <p:nvPr/>
          </p:nvCxnSpPr>
          <p:spPr>
            <a:xfrm>
              <a:off x="3127248" y="1344168"/>
              <a:ext cx="0" cy="713232"/>
            </a:xfrm>
            <a:prstGeom prst="line">
              <a:avLst/>
            </a:prstGeom>
            <a:ln w="9525">
              <a:solidFill>
                <a:srgbClr val="8FA28A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/>
            <p:cNvSpPr/>
            <p:nvPr/>
          </p:nvSpPr>
          <p:spPr>
            <a:xfrm>
              <a:off x="3049524" y="1175004"/>
              <a:ext cx="155448" cy="155448"/>
            </a:xfrm>
            <a:prstGeom prst="ellipse">
              <a:avLst/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3049524" y="2071116"/>
              <a:ext cx="155448" cy="155448"/>
            </a:xfrm>
            <a:prstGeom prst="ellipse">
              <a:avLst/>
            </a:prstGeom>
            <a:solidFill>
              <a:srgbClr val="DCC1BD"/>
            </a:solidFill>
            <a:ln w="9525">
              <a:solidFill>
                <a:srgbClr val="B08E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255264" y="932688"/>
              <a:ext cx="274320" cy="1371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t = 2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3291840" y="1078992"/>
              <a:ext cx="201168" cy="1243584"/>
            </a:xfrm>
            <a:prstGeom prst="roundRect">
              <a:avLst>
                <a:gd name="adj" fmla="val 27272"/>
              </a:avLst>
            </a:prstGeom>
            <a:solidFill>
              <a:srgbClr val="FFFFFF"/>
            </a:solidFill>
            <a:ln w="9525">
              <a:solidFill>
                <a:srgbClr val="8FA2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3" name="Connector 62"/>
            <p:cNvCxnSpPr/>
            <p:nvPr/>
          </p:nvCxnSpPr>
          <p:spPr>
            <a:xfrm>
              <a:off x="3392424" y="1344168"/>
              <a:ext cx="0" cy="713232"/>
            </a:xfrm>
            <a:prstGeom prst="line">
              <a:avLst/>
            </a:prstGeom>
            <a:ln w="9525">
              <a:solidFill>
                <a:srgbClr val="8FA28A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3314700" y="1175004"/>
              <a:ext cx="155448" cy="155448"/>
            </a:xfrm>
            <a:prstGeom prst="ellipse">
              <a:avLst/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3314700" y="2071116"/>
              <a:ext cx="155448" cy="155448"/>
            </a:xfrm>
            <a:prstGeom prst="ellipse">
              <a:avLst/>
            </a:prstGeom>
            <a:solidFill>
              <a:srgbClr val="DCC1BD"/>
            </a:solidFill>
            <a:ln w="9525">
              <a:solidFill>
                <a:srgbClr val="B08E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520440" y="932688"/>
              <a:ext cx="274320" cy="1371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t = 3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3557016" y="1078992"/>
              <a:ext cx="201168" cy="1243584"/>
            </a:xfrm>
            <a:prstGeom prst="roundRect">
              <a:avLst>
                <a:gd name="adj" fmla="val 27272"/>
              </a:avLst>
            </a:prstGeom>
            <a:solidFill>
              <a:srgbClr val="FFFFFF"/>
            </a:solidFill>
            <a:ln w="9525">
              <a:solidFill>
                <a:srgbClr val="8FA2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8" name="Connector 67"/>
            <p:cNvCxnSpPr/>
            <p:nvPr/>
          </p:nvCxnSpPr>
          <p:spPr>
            <a:xfrm>
              <a:off x="3657600" y="1344168"/>
              <a:ext cx="0" cy="713232"/>
            </a:xfrm>
            <a:prstGeom prst="line">
              <a:avLst/>
            </a:prstGeom>
            <a:ln w="9525">
              <a:solidFill>
                <a:srgbClr val="8FA28A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/>
            <p:cNvSpPr/>
            <p:nvPr/>
          </p:nvSpPr>
          <p:spPr>
            <a:xfrm>
              <a:off x="3579876" y="1175004"/>
              <a:ext cx="155448" cy="155448"/>
            </a:xfrm>
            <a:prstGeom prst="ellipse">
              <a:avLst/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3579876" y="2071116"/>
              <a:ext cx="155448" cy="155448"/>
            </a:xfrm>
            <a:prstGeom prst="ellipse">
              <a:avLst/>
            </a:prstGeom>
            <a:solidFill>
              <a:srgbClr val="DCC1BD"/>
            </a:solidFill>
            <a:ln w="9525">
              <a:solidFill>
                <a:srgbClr val="B08E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032504" y="932688"/>
              <a:ext cx="274320" cy="1371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t = T</a:t>
              </a: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4069080" y="1078992"/>
              <a:ext cx="201168" cy="1243584"/>
            </a:xfrm>
            <a:prstGeom prst="roundRect">
              <a:avLst>
                <a:gd name="adj" fmla="val 27272"/>
              </a:avLst>
            </a:prstGeom>
            <a:solidFill>
              <a:srgbClr val="FFFFFF"/>
            </a:solidFill>
            <a:ln w="9525">
              <a:solidFill>
                <a:srgbClr val="8FA2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3" name="Connector 72"/>
            <p:cNvCxnSpPr/>
            <p:nvPr/>
          </p:nvCxnSpPr>
          <p:spPr>
            <a:xfrm>
              <a:off x="4169664" y="1344168"/>
              <a:ext cx="0" cy="713232"/>
            </a:xfrm>
            <a:prstGeom prst="line">
              <a:avLst/>
            </a:prstGeom>
            <a:ln w="9525">
              <a:solidFill>
                <a:srgbClr val="8FA28A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73"/>
            <p:cNvSpPr/>
            <p:nvPr/>
          </p:nvSpPr>
          <p:spPr>
            <a:xfrm>
              <a:off x="4091940" y="1175004"/>
              <a:ext cx="155448" cy="155448"/>
            </a:xfrm>
            <a:prstGeom prst="ellipse">
              <a:avLst/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4091940" y="2071116"/>
              <a:ext cx="155448" cy="155448"/>
            </a:xfrm>
            <a:prstGeom prst="ellipse">
              <a:avLst/>
            </a:prstGeom>
            <a:solidFill>
              <a:srgbClr val="DCC1BD"/>
            </a:solidFill>
            <a:ln w="9525">
              <a:solidFill>
                <a:srgbClr val="B08E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3829507" y="1232611"/>
              <a:ext cx="40233" cy="40233"/>
            </a:xfrm>
            <a:prstGeom prst="ellipse">
              <a:avLst/>
            </a:prstGeom>
            <a:solidFill>
              <a:srgbClr val="7778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3893515" y="1232611"/>
              <a:ext cx="40233" cy="40233"/>
            </a:xfrm>
            <a:prstGeom prst="ellipse">
              <a:avLst/>
            </a:prstGeom>
            <a:solidFill>
              <a:srgbClr val="7778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3957523" y="1232611"/>
              <a:ext cx="40233" cy="40233"/>
            </a:xfrm>
            <a:prstGeom prst="ellipse">
              <a:avLst/>
            </a:prstGeom>
            <a:solidFill>
              <a:srgbClr val="7778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3829507" y="2128723"/>
              <a:ext cx="40233" cy="40233"/>
            </a:xfrm>
            <a:prstGeom prst="ellipse">
              <a:avLst/>
            </a:prstGeom>
            <a:solidFill>
              <a:srgbClr val="7778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3893515" y="2128723"/>
              <a:ext cx="40233" cy="40233"/>
            </a:xfrm>
            <a:prstGeom prst="ellipse">
              <a:avLst/>
            </a:prstGeom>
            <a:solidFill>
              <a:srgbClr val="7778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3957523" y="2128723"/>
              <a:ext cx="40233" cy="40233"/>
            </a:xfrm>
            <a:prstGeom prst="ellipse">
              <a:avLst/>
            </a:prstGeom>
            <a:solidFill>
              <a:srgbClr val="7778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944368" y="2340864"/>
              <a:ext cx="1408176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Multi-head attention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(4 heads), Add &amp; LayerNorm</a:t>
              </a:r>
            </a:p>
          </p:txBody>
        </p:sp>
      </p:grpSp>
      <p:cxnSp>
        <p:nvCxnSpPr>
          <p:cNvPr id="83" name="Connector 82"/>
          <p:cNvCxnSpPr/>
          <p:nvPr/>
        </p:nvCxnSpPr>
        <p:spPr>
          <a:xfrm>
            <a:off x="2779776" y="1252728"/>
            <a:ext cx="164592" cy="0"/>
          </a:xfrm>
          <a:prstGeom prst="line">
            <a:avLst/>
          </a:prstGeom>
          <a:ln w="9525">
            <a:solidFill>
              <a:srgbClr val="7778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779776" y="2148840"/>
            <a:ext cx="164592" cy="0"/>
          </a:xfrm>
          <a:prstGeom prst="line">
            <a:avLst/>
          </a:prstGeom>
          <a:ln w="9525">
            <a:solidFill>
              <a:srgbClr val="7778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2841955" y="1232611"/>
            <a:ext cx="40233" cy="40233"/>
          </a:xfrm>
          <a:prstGeom prst="ellipse">
            <a:avLst/>
          </a:prstGeom>
          <a:solidFill>
            <a:srgbClr val="777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6" name="Group 85"/>
          <p:cNvGrpSpPr/>
          <p:nvPr/>
        </p:nvGrpSpPr>
        <p:grpSpPr>
          <a:xfrm>
            <a:off x="3035808" y="45720"/>
            <a:ext cx="2395728" cy="612648"/>
            <a:chOff x="3035808" y="45720"/>
            <a:chExt cx="2395728" cy="612648"/>
          </a:xfrm>
        </p:grpSpPr>
        <p:sp>
          <p:nvSpPr>
            <p:cNvPr id="87" name="Rounded Rectangle 86"/>
            <p:cNvSpPr/>
            <p:nvPr/>
          </p:nvSpPr>
          <p:spPr>
            <a:xfrm>
              <a:off x="3035808" y="45720"/>
              <a:ext cx="2395728" cy="612648"/>
            </a:xfrm>
            <a:prstGeom prst="roundRect">
              <a:avLst>
                <a:gd name="adj" fmla="val 10447"/>
              </a:avLst>
            </a:prstGeom>
            <a:solidFill>
              <a:srgbClr val="E6EBEF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090672" y="64008"/>
              <a:ext cx="1737360" cy="1554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900" b="1" i="0">
                  <a:solidFill>
                    <a:srgbClr val="45464A"/>
                  </a:solidFill>
                  <a:latin typeface="Arial"/>
                </a:rPr>
                <a:t>Eye-only path (stage 1)</a:t>
              </a:r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4974336" y="77724"/>
              <a:ext cx="402336" cy="13716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800" b="0" i="1">
                  <a:solidFill>
                    <a:srgbClr val="45464A"/>
                  </a:solidFill>
                  <a:latin typeface="Arial"/>
                </a:rPr>
                <a:t>frozen</a:t>
              </a:r>
            </a:p>
          </p:txBody>
        </p:sp>
        <p:sp>
          <p:nvSpPr>
            <p:cNvPr id="90" name="Rounded Rectangle 89"/>
            <p:cNvSpPr/>
            <p:nvPr/>
          </p:nvSpPr>
          <p:spPr>
            <a:xfrm>
              <a:off x="3127248" y="246888"/>
              <a:ext cx="932688" cy="329184"/>
            </a:xfrm>
            <a:prstGeom prst="roundRect">
              <a:avLst>
                <a:gd name="adj" fmla="val 13888"/>
              </a:avLst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Single-modality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fusion block</a:t>
              </a:r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4480560" y="246888"/>
              <a:ext cx="859536" cy="329184"/>
            </a:xfrm>
            <a:prstGeom prst="roundRect">
              <a:avLst>
                <a:gd name="adj" fmla="val 13888"/>
              </a:avLst>
            </a:prstGeom>
            <a:solidFill>
              <a:srgbClr val="B4C3CE"/>
            </a:solidFill>
            <a:ln w="9525">
              <a:solidFill>
                <a:srgbClr val="7F95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Classifier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head</a:t>
              </a:r>
            </a:p>
          </p:txBody>
        </p:sp>
        <p:cxnSp>
          <p:nvCxnSpPr>
            <p:cNvPr id="92" name="Connector 91"/>
            <p:cNvCxnSpPr/>
            <p:nvPr/>
          </p:nvCxnSpPr>
          <p:spPr>
            <a:xfrm>
              <a:off x="4059936" y="411480"/>
              <a:ext cx="420624" cy="0"/>
            </a:xfrm>
            <a:prstGeom prst="line">
              <a:avLst/>
            </a:prstGeom>
            <a:ln w="9525">
              <a:solidFill>
                <a:srgbClr val="77787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Freeform 92"/>
          <p:cNvSpPr/>
          <p:nvPr/>
        </p:nvSpPr>
        <p:spPr>
          <a:xfrm>
            <a:off x="2862072" y="411480"/>
            <a:ext cx="265176" cy="841248"/>
          </a:xfrm>
          <a:custGeom>
            <a:avLst/>
            <a:gdLst/>
            <a:ahLst/>
            <a:cxnLst/>
            <a:rect l="l" t="t" r="r" b="b"/>
            <a:pathLst>
              <a:path w="265176" h="841248">
                <a:moveTo>
                  <a:pt x="0" y="841248"/>
                </a:moveTo>
                <a:lnTo>
                  <a:pt x="0" y="0"/>
                </a:lnTo>
                <a:lnTo>
                  <a:pt x="265176" y="0"/>
                </a:lnTo>
              </a:path>
            </a:pathLst>
          </a:custGeom>
          <a:noFill/>
          <a:ln w="9525">
            <a:solidFill>
              <a:srgbClr val="77787B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4" name="Group 93"/>
          <p:cNvGrpSpPr/>
          <p:nvPr/>
        </p:nvGrpSpPr>
        <p:grpSpPr>
          <a:xfrm>
            <a:off x="4425696" y="1005840"/>
            <a:ext cx="201168" cy="1389888"/>
            <a:chOff x="4425696" y="1005840"/>
            <a:chExt cx="201168" cy="1389888"/>
          </a:xfrm>
        </p:grpSpPr>
        <p:sp>
          <p:nvSpPr>
            <p:cNvPr id="95" name="Rounded Rectangle 94"/>
            <p:cNvSpPr/>
            <p:nvPr/>
          </p:nvSpPr>
          <p:spPr>
            <a:xfrm>
              <a:off x="4425696" y="1005840"/>
              <a:ext cx="201168" cy="1389888"/>
            </a:xfrm>
            <a:prstGeom prst="roundRect">
              <a:avLst>
                <a:gd name="adj" fmla="val 22727"/>
              </a:avLst>
            </a:prstGeom>
            <a:solidFill>
              <a:srgbClr val="C3CFBE"/>
            </a:solidFill>
            <a:ln w="9525">
              <a:solidFill>
                <a:srgbClr val="8FA28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 vert="vert27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Mask · Concat · Flatten</a:t>
              </a:r>
            </a:p>
          </p:txBody>
        </p:sp>
      </p:grpSp>
      <p:cxnSp>
        <p:nvCxnSpPr>
          <p:cNvPr id="96" name="Connector 95"/>
          <p:cNvCxnSpPr/>
          <p:nvPr/>
        </p:nvCxnSpPr>
        <p:spPr>
          <a:xfrm>
            <a:off x="4352544" y="1252728"/>
            <a:ext cx="73152" cy="0"/>
          </a:xfrm>
          <a:prstGeom prst="line">
            <a:avLst/>
          </a:prstGeom>
          <a:ln w="9525">
            <a:solidFill>
              <a:srgbClr val="7778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352544" y="2148840"/>
            <a:ext cx="73152" cy="0"/>
          </a:xfrm>
          <a:prstGeom prst="line">
            <a:avLst/>
          </a:prstGeom>
          <a:ln w="9525">
            <a:solidFill>
              <a:srgbClr val="7778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8" name="Group 97"/>
          <p:cNvGrpSpPr/>
          <p:nvPr/>
        </p:nvGrpSpPr>
        <p:grpSpPr>
          <a:xfrm>
            <a:off x="4709160" y="1371600"/>
            <a:ext cx="932688" cy="658368"/>
            <a:chOff x="4709160" y="1371600"/>
            <a:chExt cx="932688" cy="658368"/>
          </a:xfrm>
        </p:grpSpPr>
        <p:sp>
          <p:nvSpPr>
            <p:cNvPr id="99" name="Rounded Rectangle 98"/>
            <p:cNvSpPr/>
            <p:nvPr/>
          </p:nvSpPr>
          <p:spPr>
            <a:xfrm>
              <a:off x="4709160" y="1371600"/>
              <a:ext cx="932688" cy="658368"/>
            </a:xfrm>
            <a:prstGeom prst="roundRect">
              <a:avLst>
                <a:gd name="adj" fmla="val 6944"/>
              </a:avLst>
            </a:prstGeom>
            <a:solidFill>
              <a:srgbClr val="CFC5D3"/>
            </a:solidFill>
            <a:ln w="12700">
              <a:solidFill>
                <a:srgbClr val="9A8B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850" b="1" i="0">
                  <a:solidFill>
                    <a:srgbClr val="45464A"/>
                  </a:solidFill>
                  <a:latin typeface="Arial"/>
                </a:rPr>
                <a:t>Classifier head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Linear 1600 → 16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GELU · Dropout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Linear 16 → 5</a:t>
              </a:r>
            </a:p>
          </p:txBody>
        </p:sp>
      </p:grpSp>
      <p:cxnSp>
        <p:nvCxnSpPr>
          <p:cNvPr id="100" name="Connector 99"/>
          <p:cNvCxnSpPr/>
          <p:nvPr/>
        </p:nvCxnSpPr>
        <p:spPr>
          <a:xfrm>
            <a:off x="4626864" y="1700784"/>
            <a:ext cx="82296" cy="0"/>
          </a:xfrm>
          <a:prstGeom prst="line">
            <a:avLst/>
          </a:prstGeom>
          <a:ln w="9525">
            <a:solidFill>
              <a:srgbClr val="7778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/>
          <p:cNvGrpSpPr/>
          <p:nvPr/>
        </p:nvGrpSpPr>
        <p:grpSpPr>
          <a:xfrm>
            <a:off x="5568696" y="1024128"/>
            <a:ext cx="667512" cy="768096"/>
            <a:chOff x="5568696" y="1024128"/>
            <a:chExt cx="667512" cy="768096"/>
          </a:xfrm>
        </p:grpSpPr>
        <p:sp>
          <p:nvSpPr>
            <p:cNvPr id="102" name="Oval 101"/>
            <p:cNvSpPr/>
            <p:nvPr/>
          </p:nvSpPr>
          <p:spPr>
            <a:xfrm>
              <a:off x="5705856" y="1609344"/>
              <a:ext cx="182880" cy="1828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7778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1000" b="1" i="0">
                  <a:solidFill>
                    <a:srgbClr val="45464A"/>
                  </a:solidFill>
                  <a:latin typeface="Arial"/>
                </a:rPr>
                <a:t>×</a:t>
              </a:r>
            </a:p>
          </p:txBody>
        </p:sp>
        <p:sp>
          <p:nvSpPr>
            <p:cNvPr id="103" name="Oval 102"/>
            <p:cNvSpPr/>
            <p:nvPr/>
          </p:nvSpPr>
          <p:spPr>
            <a:xfrm>
              <a:off x="6053328" y="1609344"/>
              <a:ext cx="182880" cy="1828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7778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1000" b="1" i="0">
                  <a:solidFill>
                    <a:srgbClr val="45464A"/>
                  </a:solidFill>
                  <a:latin typeface="Arial"/>
                </a:rPr>
                <a:t>+</a:t>
              </a:r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5568696" y="1024128"/>
              <a:ext cx="457200" cy="274320"/>
            </a:xfrm>
            <a:prstGeom prst="roundRect">
              <a:avLst>
                <a:gd name="adj" fmla="val 20000"/>
              </a:avLst>
            </a:prstGeom>
            <a:solidFill>
              <a:srgbClr val="C9C1B9"/>
            </a:solidFill>
            <a:ln w="9525">
              <a:solidFill>
                <a:srgbClr val="8A81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gate g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init 0</a:t>
              </a:r>
            </a:p>
          </p:txBody>
        </p:sp>
        <p:cxnSp>
          <p:nvCxnSpPr>
            <p:cNvPr id="105" name="Connector 104"/>
            <p:cNvCxnSpPr/>
            <p:nvPr/>
          </p:nvCxnSpPr>
          <p:spPr>
            <a:xfrm>
              <a:off x="5797296" y="1298448"/>
              <a:ext cx="0" cy="310896"/>
            </a:xfrm>
            <a:prstGeom prst="line">
              <a:avLst/>
            </a:prstGeom>
            <a:ln w="9525">
              <a:solidFill>
                <a:srgbClr val="77787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105"/>
            <p:cNvCxnSpPr/>
            <p:nvPr/>
          </p:nvCxnSpPr>
          <p:spPr>
            <a:xfrm>
              <a:off x="5888736" y="1700784"/>
              <a:ext cx="164592" cy="0"/>
            </a:xfrm>
            <a:prstGeom prst="line">
              <a:avLst/>
            </a:prstGeom>
            <a:ln w="9525">
              <a:solidFill>
                <a:srgbClr val="77787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7" name="Connector 106"/>
          <p:cNvCxnSpPr/>
          <p:nvPr/>
        </p:nvCxnSpPr>
        <p:spPr>
          <a:xfrm>
            <a:off x="5641848" y="1700784"/>
            <a:ext cx="64008" cy="0"/>
          </a:xfrm>
          <a:prstGeom prst="line">
            <a:avLst/>
          </a:prstGeom>
          <a:ln w="9525">
            <a:solidFill>
              <a:srgbClr val="7778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Freeform 107"/>
          <p:cNvSpPr/>
          <p:nvPr/>
        </p:nvSpPr>
        <p:spPr>
          <a:xfrm>
            <a:off x="5340096" y="411480"/>
            <a:ext cx="804672" cy="1197864"/>
          </a:xfrm>
          <a:custGeom>
            <a:avLst/>
            <a:gdLst/>
            <a:ahLst/>
            <a:cxnLst/>
            <a:rect l="l" t="t" r="r" b="b"/>
            <a:pathLst>
              <a:path w="804672" h="1197864">
                <a:moveTo>
                  <a:pt x="0" y="0"/>
                </a:moveTo>
                <a:lnTo>
                  <a:pt x="804672" y="0"/>
                </a:lnTo>
                <a:lnTo>
                  <a:pt x="804672" y="1197864"/>
                </a:lnTo>
              </a:path>
            </a:pathLst>
          </a:custGeom>
          <a:noFill/>
          <a:ln w="9525">
            <a:solidFill>
              <a:srgbClr val="77787B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468112" y="237744"/>
            <a:ext cx="89611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45464A"/>
                </a:solidFill>
                <a:latin typeface="Arial"/>
              </a:rPr>
              <a:t>eye-path logits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00016" y="2075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45464A"/>
                </a:solidFill>
                <a:latin typeface="Arial"/>
              </a:rPr>
              <a:t>correction logits,</a:t>
            </a:r>
          </a:p>
          <a:p>
            <a:pPr algn="ctr"/>
            <a:r>
              <a:rPr sz="800" b="0" i="1">
                <a:solidFill>
                  <a:srgbClr val="45464A"/>
                </a:solidFill>
                <a:latin typeface="Arial"/>
              </a:rPr>
              <a:t>scaled by g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897879" y="2103120"/>
            <a:ext cx="493776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9A8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45464A"/>
                </a:solidFill>
                <a:latin typeface="Arial"/>
              </a:rPr>
              <a:t>Which</a:t>
            </a:r>
          </a:p>
          <a:p>
            <a:pPr algn="ctr"/>
            <a:r>
              <a:rPr sz="850" b="1" i="0">
                <a:solidFill>
                  <a:srgbClr val="45464A"/>
                </a:solidFill>
                <a:latin typeface="Arial"/>
              </a:rPr>
              <a:t>Vote?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6144768" y="1792224"/>
            <a:ext cx="0" cy="310896"/>
          </a:xfrm>
          <a:prstGeom prst="line">
            <a:avLst/>
          </a:prstGeom>
          <a:ln w="9525">
            <a:solidFill>
              <a:srgbClr val="7778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/>
          <p:cNvGrpSpPr/>
          <p:nvPr/>
        </p:nvGrpSpPr>
        <p:grpSpPr>
          <a:xfrm>
            <a:off x="2944368" y="2798064"/>
            <a:ext cx="2029968" cy="640080"/>
            <a:chOff x="2944368" y="2798064"/>
            <a:chExt cx="2029968" cy="640080"/>
          </a:xfrm>
        </p:grpSpPr>
        <p:sp>
          <p:nvSpPr>
            <p:cNvPr id="114" name="Rounded Rectangle 113"/>
            <p:cNvSpPr/>
            <p:nvPr/>
          </p:nvSpPr>
          <p:spPr>
            <a:xfrm>
              <a:off x="2944368" y="2798064"/>
              <a:ext cx="2029968" cy="640080"/>
            </a:xfrm>
            <a:prstGeom prst="roundRect">
              <a:avLst>
                <a:gd name="adj" fmla="val 10000"/>
              </a:avLst>
            </a:prstGeom>
            <a:solidFill>
              <a:srgbClr val="F5F0E4"/>
            </a:solidFill>
            <a:ln w="12700">
              <a:solidFill>
                <a:srgbClr val="B5A27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Rounded Rectangle 114"/>
            <p:cNvSpPr/>
            <p:nvPr/>
          </p:nvSpPr>
          <p:spPr>
            <a:xfrm>
              <a:off x="3035808" y="2843784"/>
              <a:ext cx="822960" cy="347472"/>
            </a:xfrm>
            <a:prstGeom prst="roundRect">
              <a:avLst>
                <a:gd name="adj" fmla="val 13157"/>
              </a:avLst>
            </a:prstGeom>
            <a:solidFill>
              <a:srgbClr val="E3D7BE"/>
            </a:solidFill>
            <a:ln w="9525">
              <a:solidFill>
                <a:srgbClr val="B5A2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Masked mean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pool over T</a:t>
              </a:r>
            </a:p>
          </p:txBody>
        </p:sp>
        <p:sp>
          <p:nvSpPr>
            <p:cNvPr id="116" name="Rounded Rectangle 115"/>
            <p:cNvSpPr/>
            <p:nvPr/>
          </p:nvSpPr>
          <p:spPr>
            <a:xfrm>
              <a:off x="4041648" y="2843784"/>
              <a:ext cx="841248" cy="347472"/>
            </a:xfrm>
            <a:prstGeom prst="roundRect">
              <a:avLst>
                <a:gd name="adj" fmla="val 13157"/>
              </a:avLst>
            </a:prstGeom>
            <a:solidFill>
              <a:srgbClr val="E3D7BE"/>
            </a:solidFill>
            <a:ln w="9525">
              <a:solidFill>
                <a:srgbClr val="B5A2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Auxiliary head</a:t>
              </a:r>
            </a:p>
            <a:p>
              <a:pPr algn="ctr"/>
              <a:r>
                <a:rPr sz="800" b="0" i="0">
                  <a:solidFill>
                    <a:srgbClr val="45464A"/>
                  </a:solidFill>
                  <a:latin typeface="Arial"/>
                </a:rPr>
                <a:t>(MLP) × 2</a:t>
              </a:r>
            </a:p>
          </p:txBody>
        </p:sp>
        <p:cxnSp>
          <p:nvCxnSpPr>
            <p:cNvPr id="117" name="Connector 116"/>
            <p:cNvCxnSpPr/>
            <p:nvPr/>
          </p:nvCxnSpPr>
          <p:spPr>
            <a:xfrm>
              <a:off x="3858768" y="3017520"/>
              <a:ext cx="182880" cy="0"/>
            </a:xfrm>
            <a:prstGeom prst="line">
              <a:avLst/>
            </a:prstGeom>
            <a:ln w="9525">
              <a:solidFill>
                <a:srgbClr val="77787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/>
            <p:cNvSpPr txBox="1"/>
            <p:nvPr/>
          </p:nvSpPr>
          <p:spPr>
            <a:xfrm>
              <a:off x="2944368" y="3227832"/>
              <a:ext cx="2029968" cy="16459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850" b="1" i="0">
                  <a:solidFill>
                    <a:srgbClr val="45464A"/>
                  </a:solidFill>
                  <a:latin typeface="Arial"/>
                </a:rPr>
                <a:t>Auxiliary supervision (training only)</a:t>
              </a:r>
            </a:p>
          </p:txBody>
        </p:sp>
      </p:grpSp>
      <p:cxnSp>
        <p:nvCxnSpPr>
          <p:cNvPr id="119" name="Connector 118"/>
          <p:cNvCxnSpPr/>
          <p:nvPr/>
        </p:nvCxnSpPr>
        <p:spPr>
          <a:xfrm>
            <a:off x="3447288" y="2615184"/>
            <a:ext cx="0" cy="228600"/>
          </a:xfrm>
          <a:prstGeom prst="line">
            <a:avLst/>
          </a:prstGeom>
          <a:ln w="9525">
            <a:solidFill>
              <a:srgbClr val="7778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3511296" y="2638044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45464A"/>
                </a:solidFill>
                <a:latin typeface="Arial"/>
              </a:rPr>
              <a:t>fused tokens, T × 16 per modality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248656" y="2770632"/>
            <a:ext cx="1115568" cy="548640"/>
          </a:xfrm>
          <a:prstGeom prst="roundRect">
            <a:avLst>
              <a:gd name="adj" fmla="val 8333"/>
            </a:avLst>
          </a:prstGeom>
          <a:solidFill>
            <a:srgbClr val="C9C1B9"/>
          </a:solidFill>
          <a:ln w="12700">
            <a:solidFill>
              <a:srgbClr val="8A81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45464A"/>
                </a:solidFill>
                <a:latin typeface="Arial"/>
              </a:rPr>
              <a:t>Training loss</a:t>
            </a:r>
          </a:p>
          <a:p>
            <a:pPr algn="ctr"/>
            <a:r>
              <a:rPr sz="800" b="0" i="0">
                <a:solidFill>
                  <a:srgbClr val="45464A"/>
                </a:solidFill>
                <a:latin typeface="Arial"/>
              </a:rPr>
              <a:t>CE + λ · auxiliary CE</a:t>
            </a:r>
          </a:p>
          <a:p>
            <a:pPr algn="ctr"/>
            <a:r>
              <a:rPr sz="800" b="0" i="0">
                <a:solidFill>
                  <a:srgbClr val="45464A"/>
                </a:solidFill>
                <a:latin typeface="Arial"/>
              </a:rPr>
              <a:t>λ = 0.1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4882896" y="3017520"/>
            <a:ext cx="365760" cy="0"/>
          </a:xfrm>
          <a:prstGeom prst="line">
            <a:avLst/>
          </a:prstGeom>
          <a:ln w="9525">
            <a:solidFill>
              <a:srgbClr val="7778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6144768" y="2432304"/>
            <a:ext cx="0" cy="338328"/>
          </a:xfrm>
          <a:prstGeom prst="line">
            <a:avLst/>
          </a:prstGeom>
          <a:ln w="9525">
            <a:solidFill>
              <a:srgbClr val="7778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